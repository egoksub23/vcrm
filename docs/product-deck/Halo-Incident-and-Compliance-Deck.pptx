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Halo is the customer operations platform Vircle built for its own regulated business. This deck is about two modules, incident management and compliance requests, and how they support the technology-risk expectations BNM sets for its licensees.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jobs, three pillars. The incident register and the compliance workflow are where a regulated team acts; the evidence layer is what lets it answer an examiner afterwards. The last line matters: later slides are explicit about what stays with the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The incident module digitises the incident management register that Vircle’s own Security Incident Reporting and Management Policy requires. The incidents shown on screen are scenario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is its own domain with its own confidentiality rules. Six statuses, severity P1 to P4, an escalation level on each card and the assigned officer. The incidents shown are scenario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incident types come from section 8 of Vircle’s policy. Reports of certain types are suggested at P2 or higher; the officer can downgrade with a documented reason at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defaults come from the policy and are editable per severity; each severity can be tied to a business-hours schedule or left on 24/7. A scheduled job escalates a reported incident that is not triaged in time and notifies the configured recipients in-app and by e-mail. Every escalation is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evidence, corrective actions and the log of external notifications. Evidence uploads are fingerprinted with a SHA-256 hash in the browser and logged to an evidence register automatically. The notifications log is where a person records that they told BNM or another party: Halo does not send those notices.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Word documents are generated from the incident record. The timelines shown are the values in Vircle’s own policy: other institutions will have their own. Halo prepares the document; the people send it through the real channel and log that they did. Halo never contacts a regulator.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Compliance requests cover customer instructions such as closing an account, withdrawing funds or changing account details, where the institution must show who checked identity, who approved,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transition table lives in one SQL function. The person who recorded the identity check cannot sign the case off whatever their role, and that rule is enforced in the database, so a forgotten check in a route cannot bypass it. The case shown is a test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per stage, filters by type, status, clock state and assignee, and a clock chip on every request. The chips use a word and an icon, never colour alone. An hourly job alerts the people who can approve or review as a case nears its hard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reports page answers throughput, timeliness and rejection questions with numbers only: no names, phone numbers or bank details. The CSV export is itself logged with who made it and the filters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 details and other protected answers are never stored in the ordinary answers column: they are sealed with AES-256-GCM from a key ring, masked on screen, and revealed for two minutes only after the reveal event is written. Evidence files sit in a private store and can only be fetched through a route that logs the view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in, one case. The customer can use a public form, receive a personal link in the chat conversation, or staff can raise the case from an Inbox conversation or a ticket. All three produce the same reference and the same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 reads the institution’s verification service. Halo keeps nothing of the customer’s data: the image is fetched each time and streamed. Every search, list, image view and decision is written to an append-only access log before the data is shown. The panel on the right is an illustration: no customer data is displayed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The mapping that follows is to BNM’s Risk Management in Technology policy document, which applies among others to licensed banks, approved issuers of electronic money and operators of designated payment systems. It is an aid to the institution’s own compliance team, not legal advice or a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are Owner, Admin, Agent and Viewer, plus custom roles and add-on roles that only add permissions. Each capability is enforced in the screen, the API route and the database policy, so a direct call with a person’s own login is refused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log is a single append-only table: even the service role cannot update or delete a row. The KYC access log, the compliance timeline and the incident history follow the same rule. Support access is time-boxed and logged; export and deletion serve access and erasure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Paragraph numbers refer to the RMiT policy document issued 25 September 2026 (effective 28 November 2025 except where stated). The right-hand column is deliberate: several requirements are met by the institution’s own processes, and Halo does not enforce multi-factor authentication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11.13 sets out the stages of a cyber incident response plan. The incident module follows the same stages. S 11.18 requires notification to the Bank per its other policy documents: Halo prepares the notice and logs that it was sent, but does not send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areas, not clause-by-clause claims. Each licensee confirms the exact obligations with its own compliance team. The common thread is that Halo produces records and controls the institution can point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limits. Halo does not file anything with BNM or any authority, does not enforce multi-factor authentication or SSO-only login by itself, is not a transaction monitoring or sanctions screening system, and the mapping on the previous slides is an aid, not a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incident taxonomy follows Vircle’s own policy today, so aligning it with another institution’s policy is scoped during onboarding rather than a setting. Offer a walkthrough and a short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37376"/>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Vircle Halo  |  Incident management and compliance</a:t>
            </a:r>
            <a:endParaRPr lang="en-US" sz="10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TI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37376"/>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Vircle Halo  |  Incident management and compliance</a:t>
            </a:r>
            <a:endParaRPr lang="en-US" sz="10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5.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22960" y="2011680"/>
            <a:ext cx="7680960" cy="1554480"/>
          </a:xfrm>
          <a:prstGeom prst="rect">
            <a:avLst/>
          </a:prstGeom>
          <a:noFill/>
          <a:ln/>
        </p:spPr>
        <p:txBody>
          <a:bodyPr wrap="square" lIns="0" tIns="0" rIns="0" bIns="0" rtlCol="0" anchor="t"/>
          <a:lstStyle/>
          <a:p>
            <a:pPr algn="l" indent="0" marL="0">
              <a:buNone/>
            </a:pPr>
            <a:r>
              <a:rPr lang="en-US" sz="5000" b="1" dirty="0">
                <a:solidFill>
                  <a:schemeClr val="bg1"/>
                </a:solidFill>
                <a:latin typeface="+mj-lt" pitchFamily="34" charset="0"/>
                <a:ea typeface="+mj-lt" pitchFamily="34" charset="-122"/>
                <a:cs typeface="+mj-lt" pitchFamily="34" charset="-120"/>
              </a:rPr>
              <a:t>Incident management and compliance</a:t>
            </a:r>
            <a:endParaRPr lang="en-US" sz="5000" dirty="0"/>
          </a:p>
        </p:txBody>
      </p:sp>
      <p:sp>
        <p:nvSpPr>
          <p:cNvPr id="3" name="Text 1"/>
          <p:cNvSpPr/>
          <p:nvPr/>
        </p:nvSpPr>
        <p:spPr>
          <a:xfrm>
            <a:off x="822960" y="3749040"/>
            <a:ext cx="7132320" cy="1188720"/>
          </a:xfrm>
          <a:prstGeom prst="rect">
            <a:avLst/>
          </a:prstGeom>
          <a:noFill/>
          <a:ln/>
        </p:spPr>
        <p:txBody>
          <a:bodyPr wrap="square" lIns="0" tIns="0" rIns="0" bIns="0" rtlCol="0" anchor="t"/>
          <a:lstStyle/>
          <a:p>
            <a:pPr algn="l" indent="0" marL="0">
              <a:buNone/>
            </a:pPr>
            <a:r>
              <a:rPr lang="en-US" sz="2200" dirty="0">
                <a:solidFill>
                  <a:schemeClr val="bg2"/>
                </a:solidFill>
              </a:rPr>
              <a:t>How Vircle Halo supports incident reporting, compliance requests and the technology-risk expectations of Bank Negara Malaysia</a:t>
            </a:r>
            <a:endParaRPr lang="en-US" sz="2200" dirty="0"/>
          </a:p>
        </p:txBody>
      </p:sp>
      <p:sp>
        <p:nvSpPr>
          <p:cNvPr id="4" name="hero circle"/>
          <p:cNvSpPr/>
          <p:nvPr/>
        </p:nvSpPr>
        <p:spPr>
          <a:xfrm>
            <a:off x="8686800" y="1737360"/>
            <a:ext cx="2926080" cy="2926080"/>
          </a:xfrm>
          <a:prstGeom prst="ellipse">
            <a:avLst/>
          </a:prstGeom>
          <a:solidFill>
            <a:schemeClr val="accent1"/>
          </a:solidFill>
          <a:ln/>
        </p:spPr>
      </p:sp>
      <p:pic>
        <p:nvPicPr>
          <p:cNvPr id="5" name="Image 0" descr="Shield">    </p:cNvPr>
          <p:cNvPicPr>
            <a:picLocks noChangeAspect="1"/>
          </p:cNvPicPr>
          <p:nvPr/>
        </p:nvPicPr>
        <p:blipFill>
          <a:blip r:embed="rId1"/>
          <a:stretch>
            <a:fillRect/>
          </a:stretch>
        </p:blipFill>
        <p:spPr>
          <a:xfrm>
            <a:off x="9464040" y="2514600"/>
            <a:ext cx="1371600" cy="1371600"/>
          </a:xfrm>
          <a:prstGeom prst="rect">
            <a:avLst/>
          </a:prstGeom>
        </p:spPr>
      </p:pic>
      <p:sp>
        <p:nvSpPr>
          <p:cNvPr id="6" name="Text 3"/>
          <p:cNvSpPr txBox="1"/>
          <p:nvPr/>
        </p:nvSpPr>
        <p:spPr>
          <a:xfrm>
            <a:off x="822960" y="5760720"/>
            <a:ext cx="5486400" cy="320040"/>
          </a:xfrm>
          <a:prstGeom prst="rect">
            <a:avLst/>
          </a:prstGeom>
          <a:noFill/>
          <a:ln/>
        </p:spPr>
        <p:txBody>
          <a:bodyPr wrap="square" lIns="0" tIns="0" rIns="0" bIns="0" rtlCol="0" anchor="ctr"/>
          <a:lstStyle/>
          <a:p>
            <a:pPr indent="0" marL="0">
              <a:buNone/>
            </a:pPr>
            <a:r>
              <a:rPr lang="en-US" sz="1400" dirty="0">
                <a:solidFill>
                  <a:schemeClr val="accent6"/>
                </a:solidFill>
              </a:rPr>
              <a:t>Product overview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Report it, decide it, prove it</a:t>
            </a:r>
            <a:endParaRPr lang="en-US" sz="3200" dirty="0"/>
          </a:p>
        </p:txBody>
      </p:sp>
      <p:sp>
        <p:nvSpPr>
          <p:cNvPr id="4" name="Shape 1"/>
          <p:cNvSpPr/>
          <p:nvPr/>
        </p:nvSpPr>
        <p:spPr>
          <a:xfrm>
            <a:off x="548640" y="1600200"/>
            <a:ext cx="3520440" cy="3383280"/>
          </a:xfrm>
          <a:prstGeom prst="roundRect">
            <a:avLst>
              <a:gd name="adj" fmla="val 2703"/>
            </a:avLst>
          </a:prstGeom>
          <a:solidFill>
            <a:schemeClr val="bg2"/>
          </a:solidFill>
          <a:ln/>
          <a:effectLst>
            <a:outerShdw sx="100000" sy="100000" kx="0" ky="0" algn="bl" rotWithShape="0" blurRad="101600" dist="25400" dir="5400000">
              <a:srgbClr val="2B2566">
                <a:alpha val="14000"/>
              </a:srgbClr>
            </a:outerShdw>
          </a:effectLst>
        </p:spPr>
      </p:sp>
      <p:sp>
        <p:nvSpPr>
          <p:cNvPr id="5" name="Shape 2"/>
          <p:cNvSpPr/>
          <p:nvPr/>
        </p:nvSpPr>
        <p:spPr>
          <a:xfrm>
            <a:off x="822960" y="1828800"/>
            <a:ext cx="731520" cy="731520"/>
          </a:xfrm>
          <a:prstGeom prst="ellipse">
            <a:avLst/>
          </a:prstGeom>
          <a:solidFill>
            <a:schemeClr val="accent2"/>
          </a:solidFill>
          <a:ln/>
        </p:spPr>
      </p:sp>
      <p:pic>
        <p:nvPicPr>
          <p:cNvPr id="6" name="Image 0" descr="Report">    </p:cNvPr>
          <p:cNvPicPr>
            <a:picLocks noChangeAspect="1"/>
          </p:cNvPicPr>
          <p:nvPr/>
        </p:nvPicPr>
        <p:blipFill>
          <a:blip r:embed="rId1"/>
          <a:stretch>
            <a:fillRect/>
          </a:stretch>
        </p:blipFill>
        <p:spPr>
          <a:xfrm>
            <a:off x="1005840" y="2011680"/>
            <a:ext cx="365760" cy="365760"/>
          </a:xfrm>
          <a:prstGeom prst="rect">
            <a:avLst/>
          </a:prstGeom>
        </p:spPr>
      </p:pic>
      <p:sp>
        <p:nvSpPr>
          <p:cNvPr id="7" name="Text 3"/>
          <p:cNvSpPr txBox="1"/>
          <p:nvPr/>
        </p:nvSpPr>
        <p:spPr>
          <a:xfrm>
            <a:off x="822960" y="2743200"/>
            <a:ext cx="3017520" cy="2148840"/>
          </a:xfrm>
          <a:prstGeom prst="rect">
            <a:avLst/>
          </a:prstGeom>
          <a:noFill/>
          <a:ln/>
        </p:spPr>
        <p:txBody>
          <a:bodyPr wrap="square" lIns="0" tIns="0" rIns="0" bIns="0" rtlCol="0" anchor="t"/>
          <a:lstStyle/>
          <a:p>
            <a:pPr indent="0" marL="0">
              <a:spcAft>
                <a:spcPts val="800"/>
              </a:spcAft>
              <a:buNone/>
            </a:pPr>
            <a:r>
              <a:rPr lang="en-US" sz="2400" b="1" dirty="0">
                <a:solidFill>
                  <a:schemeClr val="tx1"/>
                </a:solidFill>
              </a:rPr>
              <a:t>Report</a:t>
            </a:r>
            <a:endParaRPr lang="en-US" sz="2400" dirty="0"/>
          </a:p>
          <a:p>
            <a:pPr indent="0" marL="0">
              <a:spcAft>
                <a:spcPts val="800"/>
              </a:spcAft>
              <a:buNone/>
            </a:pPr>
            <a:r>
              <a:rPr lang="en-US" sz="1500" dirty="0">
                <a:solidFill>
                  <a:schemeClr val="tx1"/>
                </a:solidFill>
              </a:rPr>
              <a:t>A security incident register with escalation clocks, an investigation record and drafts of the notices regulators and partners expect.</a:t>
            </a:r>
            <a:endParaRPr lang="en-US" sz="2400" dirty="0"/>
          </a:p>
        </p:txBody>
      </p:sp>
      <p:sp>
        <p:nvSpPr>
          <p:cNvPr id="8" name="Shape 4"/>
          <p:cNvSpPr/>
          <p:nvPr/>
        </p:nvSpPr>
        <p:spPr>
          <a:xfrm>
            <a:off x="4297680" y="1600200"/>
            <a:ext cx="3520440" cy="3383280"/>
          </a:xfrm>
          <a:prstGeom prst="roundRect">
            <a:avLst>
              <a:gd name="adj" fmla="val 2703"/>
            </a:avLst>
          </a:prstGeom>
          <a:solidFill>
            <a:schemeClr val="bg2"/>
          </a:solidFill>
          <a:ln/>
          <a:effectLst>
            <a:outerShdw sx="100000" sy="100000" kx="0" ky="0" algn="bl" rotWithShape="0" blurRad="101600" dist="25400" dir="5400000">
              <a:srgbClr val="2B2566">
                <a:alpha val="14000"/>
              </a:srgbClr>
            </a:outerShdw>
          </a:effectLst>
        </p:spPr>
      </p:sp>
      <p:sp>
        <p:nvSpPr>
          <p:cNvPr id="9" name="Shape 5"/>
          <p:cNvSpPr/>
          <p:nvPr/>
        </p:nvSpPr>
        <p:spPr>
          <a:xfrm>
            <a:off x="4572000" y="1828800"/>
            <a:ext cx="731520" cy="731520"/>
          </a:xfrm>
          <a:prstGeom prst="ellipse">
            <a:avLst/>
          </a:prstGeom>
          <a:solidFill>
            <a:schemeClr val="accent1"/>
          </a:solidFill>
          <a:ln/>
        </p:spPr>
      </p:sp>
      <p:pic>
        <p:nvPicPr>
          <p:cNvPr id="10" name="Image 1" descr="Decide">    </p:cNvPr>
          <p:cNvPicPr>
            <a:picLocks noChangeAspect="1"/>
          </p:cNvPicPr>
          <p:nvPr/>
        </p:nvPicPr>
        <p:blipFill>
          <a:blip r:embed="rId2"/>
          <a:stretch>
            <a:fillRect/>
          </a:stretch>
        </p:blipFill>
        <p:spPr>
          <a:xfrm>
            <a:off x="4754880" y="2011680"/>
            <a:ext cx="365760" cy="365760"/>
          </a:xfrm>
          <a:prstGeom prst="rect">
            <a:avLst/>
          </a:prstGeom>
        </p:spPr>
      </p:pic>
      <p:sp>
        <p:nvSpPr>
          <p:cNvPr id="11" name="Text 6"/>
          <p:cNvSpPr txBox="1"/>
          <p:nvPr/>
        </p:nvSpPr>
        <p:spPr>
          <a:xfrm>
            <a:off x="4572000" y="2743200"/>
            <a:ext cx="3017520" cy="2148840"/>
          </a:xfrm>
          <a:prstGeom prst="rect">
            <a:avLst/>
          </a:prstGeom>
          <a:noFill/>
          <a:ln/>
        </p:spPr>
        <p:txBody>
          <a:bodyPr wrap="square" lIns="0" tIns="0" rIns="0" bIns="0" rtlCol="0" anchor="t"/>
          <a:lstStyle/>
          <a:p>
            <a:pPr indent="0" marL="0">
              <a:spcAft>
                <a:spcPts val="800"/>
              </a:spcAft>
              <a:buNone/>
            </a:pPr>
            <a:r>
              <a:rPr lang="en-US" sz="2400" b="1" dirty="0">
                <a:solidFill>
                  <a:schemeClr val="tx1"/>
                </a:solidFill>
              </a:rPr>
              <a:t>Decide</a:t>
            </a:r>
            <a:endParaRPr lang="en-US" sz="2400" dirty="0"/>
          </a:p>
          <a:p>
            <a:pPr indent="0" marL="0">
              <a:spcAft>
                <a:spcPts val="800"/>
              </a:spcAft>
              <a:buNone/>
            </a:pPr>
            <a:r>
              <a:rPr lang="en-US" sz="1500" dirty="0">
                <a:solidFill>
                  <a:schemeClr val="tx1"/>
                </a:solidFill>
              </a:rPr>
              <a:t>Compliance requests, such as account closure, with an identity check, a second person’s sign-off, statutory clocks and an operations checklist.</a:t>
            </a:r>
            <a:endParaRPr lang="en-US" sz="2400" dirty="0"/>
          </a:p>
        </p:txBody>
      </p:sp>
      <p:sp>
        <p:nvSpPr>
          <p:cNvPr id="12" name="Shape 7"/>
          <p:cNvSpPr/>
          <p:nvPr/>
        </p:nvSpPr>
        <p:spPr>
          <a:xfrm>
            <a:off x="8046720" y="1600200"/>
            <a:ext cx="3520440" cy="3383280"/>
          </a:xfrm>
          <a:prstGeom prst="roundRect">
            <a:avLst>
              <a:gd name="adj" fmla="val 2703"/>
            </a:avLst>
          </a:prstGeom>
          <a:solidFill>
            <a:schemeClr val="bg2"/>
          </a:solidFill>
          <a:ln/>
          <a:effectLst>
            <a:outerShdw sx="100000" sy="100000" kx="0" ky="0" algn="bl" rotWithShape="0" blurRad="101600" dist="25400" dir="5400000">
              <a:srgbClr val="2B2566">
                <a:alpha val="14000"/>
              </a:srgbClr>
            </a:outerShdw>
          </a:effectLst>
        </p:spPr>
      </p:sp>
      <p:sp>
        <p:nvSpPr>
          <p:cNvPr id="13" name="Shape 8"/>
          <p:cNvSpPr/>
          <p:nvPr/>
        </p:nvSpPr>
        <p:spPr>
          <a:xfrm>
            <a:off x="8321040" y="1828800"/>
            <a:ext cx="731520" cy="731520"/>
          </a:xfrm>
          <a:prstGeom prst="ellipse">
            <a:avLst/>
          </a:prstGeom>
          <a:solidFill>
            <a:schemeClr val="accent3"/>
          </a:solidFill>
          <a:ln/>
        </p:spPr>
      </p:sp>
      <p:pic>
        <p:nvPicPr>
          <p:cNvPr id="14" name="Image 2" descr="Prove">    </p:cNvPr>
          <p:cNvPicPr>
            <a:picLocks noChangeAspect="1"/>
          </p:cNvPicPr>
          <p:nvPr/>
        </p:nvPicPr>
        <p:blipFill>
          <a:blip r:embed="rId3"/>
          <a:stretch>
            <a:fillRect/>
          </a:stretch>
        </p:blipFill>
        <p:spPr>
          <a:xfrm>
            <a:off x="8503920" y="2011680"/>
            <a:ext cx="365760" cy="365760"/>
          </a:xfrm>
          <a:prstGeom prst="rect">
            <a:avLst/>
          </a:prstGeom>
        </p:spPr>
      </p:pic>
      <p:sp>
        <p:nvSpPr>
          <p:cNvPr id="15" name="Text 9"/>
          <p:cNvSpPr txBox="1"/>
          <p:nvPr/>
        </p:nvSpPr>
        <p:spPr>
          <a:xfrm>
            <a:off x="8321040" y="2743200"/>
            <a:ext cx="3017520" cy="2148840"/>
          </a:xfrm>
          <a:prstGeom prst="rect">
            <a:avLst/>
          </a:prstGeom>
          <a:noFill/>
          <a:ln/>
        </p:spPr>
        <p:txBody>
          <a:bodyPr wrap="square" lIns="0" tIns="0" rIns="0" bIns="0" rtlCol="0" anchor="t"/>
          <a:lstStyle/>
          <a:p>
            <a:pPr indent="0" marL="0">
              <a:spcAft>
                <a:spcPts val="800"/>
              </a:spcAft>
              <a:buNone/>
            </a:pPr>
            <a:r>
              <a:rPr lang="en-US" sz="2400" b="1" dirty="0">
                <a:solidFill>
                  <a:schemeClr val="tx1"/>
                </a:solidFill>
              </a:rPr>
              <a:t>Prove</a:t>
            </a:r>
            <a:endParaRPr lang="en-US" sz="2400" dirty="0"/>
          </a:p>
          <a:p>
            <a:pPr indent="0" marL="0">
              <a:spcAft>
                <a:spcPts val="800"/>
              </a:spcAft>
              <a:buNone/>
            </a:pPr>
            <a:r>
              <a:rPr lang="en-US" sz="1500" dirty="0">
                <a:solidFill>
                  <a:schemeClr val="tx1"/>
                </a:solidFill>
              </a:rPr>
              <a:t>Append-only audit trails, evidence files with fingerprints, access logs for sensitive data and a workspace export.</a:t>
            </a:r>
            <a:endParaRPr lang="en-US" sz="2400" dirty="0"/>
          </a:p>
        </p:txBody>
      </p:sp>
      <p:sp>
        <p:nvSpPr>
          <p:cNvPr id="16" name="Text 10"/>
          <p:cNvSpPr txBox="1"/>
          <p:nvPr/>
        </p:nvSpPr>
        <p:spPr>
          <a:xfrm>
            <a:off x="548640" y="5349240"/>
            <a:ext cx="11064240" cy="640080"/>
          </a:xfrm>
          <a:prstGeom prst="rect">
            <a:avLst/>
          </a:prstGeom>
          <a:noFill/>
          <a:ln/>
        </p:spPr>
        <p:txBody>
          <a:bodyPr wrap="square" lIns="0" tIns="0" rIns="0" bIns="0" rtlCol="0" anchor="ctr"/>
          <a:lstStyle/>
          <a:p>
            <a:pPr indent="0" marL="0">
              <a:buNone/>
            </a:pPr>
            <a:r>
              <a:rPr lang="en-US" sz="1800" i="1" dirty="0">
                <a:solidFill>
                  <a:schemeClr val="tx2"/>
                </a:solidFill>
              </a:rPr>
              <a:t>Built around the controls a financial institution is expected to show, and clear about what stays with the institution.</a:t>
            </a:r>
            <a:endParaRPr lang="en-US" sz="18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22960" y="2377440"/>
            <a:ext cx="9601200" cy="1097280"/>
          </a:xfrm>
          <a:prstGeom prst="rect">
            <a:avLst/>
          </a:prstGeom>
          <a:noFill/>
          <a:ln/>
        </p:spPr>
        <p:txBody>
          <a:bodyPr wrap="square" lIns="0" tIns="0" rIns="0" bIns="0" rtlCol="0" anchor="t"/>
          <a:lstStyle/>
          <a:p>
            <a:pPr algn="l" indent="0" marL="0">
              <a:buNone/>
            </a:pPr>
            <a:r>
              <a:rPr lang="en-US" sz="4800" b="1" dirty="0">
                <a:solidFill>
                  <a:schemeClr val="bg1"/>
                </a:solidFill>
                <a:latin typeface="+mj-lt" pitchFamily="34" charset="0"/>
                <a:ea typeface="+mj-lt" pitchFamily="34" charset="-122"/>
                <a:cs typeface="+mj-lt" pitchFamily="34" charset="-120"/>
              </a:rPr>
              <a:t>Incident management</a:t>
            </a:r>
            <a:endParaRPr lang="en-US" sz="4800" dirty="0"/>
          </a:p>
        </p:txBody>
      </p:sp>
      <p:sp>
        <p:nvSpPr>
          <p:cNvPr id="3" name="Text 1"/>
          <p:cNvSpPr/>
          <p:nvPr/>
        </p:nvSpPr>
        <p:spPr>
          <a:xfrm>
            <a:off x="822960" y="3611880"/>
            <a:ext cx="8778240" cy="1280160"/>
          </a:xfrm>
          <a:prstGeom prst="rect">
            <a:avLst/>
          </a:prstGeom>
          <a:noFill/>
          <a:ln/>
        </p:spPr>
        <p:txBody>
          <a:bodyPr wrap="square" lIns="0" tIns="0" rIns="0" bIns="0" rtlCol="0" anchor="t"/>
          <a:lstStyle/>
          <a:p>
            <a:pPr algn="l" indent="0" marL="0">
              <a:buNone/>
            </a:pPr>
            <a:r>
              <a:rPr lang="en-US" sz="2200" dirty="0">
                <a:solidFill>
                  <a:schemeClr val="bg2"/>
                </a:solidFill>
              </a:rPr>
              <a:t>A security incident register that runs the lifecycle from first report to post-incident review</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A register built for incidents, not repurposed tickets</a:t>
            </a:r>
            <a:endParaRPr lang="en-US" sz="3200" dirty="0"/>
          </a:p>
        </p:txBody>
      </p:sp>
      <p:sp>
        <p:nvSpPr>
          <p:cNvPr id="4" name="Text 1"/>
          <p:cNvSpPr txBox="1"/>
          <p:nvPr/>
        </p:nvSpPr>
        <p:spPr>
          <a:xfrm>
            <a:off x="548640" y="1463040"/>
            <a:ext cx="11064240" cy="2011680"/>
          </a:xfrm>
          <a:prstGeom prst="rect">
            <a:avLst/>
          </a:prstGeom>
          <a:noFill/>
          <a:ln/>
        </p:spPr>
        <p:txBody>
          <a:bodyPr wrap="square" lIns="0" tIns="0" rIns="0" bIns="0" rtlCol="0" anchor="t"/>
          <a:lstStyle/>
          <a:p>
            <a:pPr marL="228600" indent="-228600">
              <a:spcAft>
                <a:spcPts val="900"/>
              </a:spcAft>
              <a:buSzPct val="100000"/>
              <a:buChar char="•"/>
            </a:pPr>
            <a:r>
              <a:rPr lang="en-US" sz="1800" dirty="0">
                <a:solidFill>
                  <a:schemeClr val="tx1"/>
                </a:solidFill>
              </a:rPr>
              <a:t>Six statuses from reported to closed, in board or list view, with severity P1 to P4 and an escalation level on every card.</a:t>
            </a:r>
            <a:endParaRPr lang="en-US" sz="1800" dirty="0"/>
          </a:p>
          <a:p>
            <a:pPr marL="228600" indent="-228600">
              <a:spcAft>
                <a:spcPts val="900"/>
              </a:spcAft>
              <a:buSzPct val="100000"/>
              <a:buChar char="•"/>
            </a:pPr>
            <a:r>
              <a:rPr lang="en-US" sz="1800" dirty="0">
                <a:solidFill>
                  <a:schemeClr val="tx1"/>
                </a:solidFill>
              </a:rPr>
              <a:t>Anyone can report. Only incident managers see the full register; a reporter sees their own reports.</a:t>
            </a:r>
            <a:endParaRPr lang="en-US" sz="1800" dirty="0"/>
          </a:p>
          <a:p>
            <a:pPr marL="228600" indent="-228600">
              <a:spcAft>
                <a:spcPts val="900"/>
              </a:spcAft>
              <a:buSzPct val="100000"/>
              <a:buChar char="•"/>
            </a:pPr>
            <a:r>
              <a:rPr lang="en-US" sz="1800" dirty="0">
                <a:solidFill>
                  <a:schemeClr val="tx1"/>
                </a:solidFill>
              </a:rPr>
              <a:t>The type list and severity model follow Vircle’s own Security Incident Reporting and Management Policy.</a:t>
            </a:r>
            <a:endParaRPr lang="en-US" sz="1800" dirty="0"/>
          </a:p>
        </p:txBody>
      </p:sp>
      <p:sp>
        <p:nvSpPr>
          <p:cNvPr id="5" name="frame s_inc_board"/>
          <p:cNvSpPr/>
          <p:nvPr/>
        </p:nvSpPr>
        <p:spPr>
          <a:xfrm>
            <a:off x="566928" y="3538728"/>
            <a:ext cx="11027664" cy="1793346"/>
          </a:xfrm>
          <a:prstGeom prst="roundRect">
            <a:avLst>
              <a:gd name="adj" fmla="val 5099"/>
            </a:avLst>
          </a:prstGeom>
          <a:solidFill>
            <a:schemeClr val="bg1"/>
          </a:solidFill>
          <a:ln w="12700">
            <a:solidFill>
              <a:srgbClr val="D9D4F2"/>
            </a:solidFill>
            <a:prstDash val="solid"/>
          </a:ln>
          <a:effectLst>
            <a:outerShdw sx="100000" sy="100000" kx="0" ky="0" algn="bl" rotWithShape="0" blurRad="101600" dist="25400" dir="5400000">
              <a:srgbClr val="2B2566">
                <a:alpha val="14000"/>
              </a:srgbClr>
            </a:outerShdw>
          </a:effectLst>
        </p:spPr>
      </p:sp>
      <p:pic>
        <p:nvPicPr>
          <p:cNvPr id="6" name="screen s_inc_board" descr="Incident register, board view (scenario data, names masked)">    </p:cNvPr>
          <p:cNvPicPr>
            <a:picLocks noChangeAspect="1"/>
          </p:cNvPicPr>
          <p:nvPr/>
        </p:nvPicPr>
        <p:blipFill>
          <a:blip r:embed="rId1"/>
          <a:stretch>
            <a:fillRect/>
          </a:stretch>
        </p:blipFill>
        <p:spPr>
          <a:xfrm>
            <a:off x="640080" y="3611880"/>
            <a:ext cx="10881360" cy="1647042"/>
          </a:xfrm>
          <a:prstGeom prst="rect">
            <a:avLst/>
          </a:prstGeom>
        </p:spPr>
      </p:pic>
      <p:sp>
        <p:nvSpPr>
          <p:cNvPr id="7" name="Text 3"/>
          <p:cNvSpPr txBox="1"/>
          <p:nvPr/>
        </p:nvSpPr>
        <p:spPr>
          <a:xfrm>
            <a:off x="566928" y="5386938"/>
            <a:ext cx="11027664" cy="256032"/>
          </a:xfrm>
          <a:prstGeom prst="rect">
            <a:avLst/>
          </a:prstGeom>
          <a:noFill/>
          <a:ln/>
        </p:spPr>
        <p:txBody>
          <a:bodyPr wrap="square" lIns="0" tIns="0" rIns="0" bIns="0" rtlCol="0" anchor="ctr"/>
          <a:lstStyle/>
          <a:p>
            <a:pPr indent="0" marL="0">
              <a:buNone/>
            </a:pPr>
            <a:r>
              <a:rPr lang="en-US" sz="1100" i="1" dirty="0">
                <a:solidFill>
                  <a:schemeClr val="accent6"/>
                </a:solidFill>
              </a:rPr>
              <a:t>Incident register, board view (scenario data, names masked)</a:t>
            </a:r>
            <a:endParaRPr lang="en-US" sz="11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Report in minutes, classify with a shared vocabulary</a:t>
            </a:r>
            <a:endParaRPr lang="en-US" sz="3200" dirty="0"/>
          </a:p>
        </p:txBody>
      </p:sp>
      <p:sp>
        <p:nvSpPr>
          <p:cNvPr id="4" name="Shape 1"/>
          <p:cNvSpPr/>
          <p:nvPr/>
        </p:nvSpPr>
        <p:spPr>
          <a:xfrm>
            <a:off x="548640" y="1508760"/>
            <a:ext cx="2697480" cy="420624"/>
          </a:xfrm>
          <a:prstGeom prst="roundRect">
            <a:avLst>
              <a:gd name="adj" fmla="val 17391"/>
            </a:avLst>
          </a:prstGeom>
          <a:solidFill>
            <a:schemeClr val="bg2"/>
          </a:solidFill>
          <a:ln/>
        </p:spPr>
      </p:sp>
      <p:sp>
        <p:nvSpPr>
          <p:cNvPr id="5" name="Text 2"/>
          <p:cNvSpPr txBox="1"/>
          <p:nvPr/>
        </p:nvSpPr>
        <p:spPr>
          <a:xfrm>
            <a:off x="685800" y="1508760"/>
            <a:ext cx="2468880" cy="420624"/>
          </a:xfrm>
          <a:prstGeom prst="rect">
            <a:avLst/>
          </a:prstGeom>
          <a:noFill/>
          <a:ln/>
        </p:spPr>
        <p:txBody>
          <a:bodyPr wrap="square" lIns="0" tIns="0" rIns="0" bIns="0" rtlCol="0" anchor="ctr"/>
          <a:lstStyle/>
          <a:p>
            <a:pPr indent="0" marL="0">
              <a:buNone/>
            </a:pPr>
            <a:r>
              <a:rPr lang="en-US" sz="1400" dirty="0">
                <a:solidFill>
                  <a:schemeClr val="tx1"/>
                </a:solidFill>
              </a:rPr>
              <a:t>Security breach</a:t>
            </a:r>
            <a:endParaRPr lang="en-US" sz="1400" dirty="0"/>
          </a:p>
        </p:txBody>
      </p:sp>
      <p:sp>
        <p:nvSpPr>
          <p:cNvPr id="6" name="Shape 3"/>
          <p:cNvSpPr/>
          <p:nvPr/>
        </p:nvSpPr>
        <p:spPr>
          <a:xfrm>
            <a:off x="548640" y="2020824"/>
            <a:ext cx="2697480" cy="420624"/>
          </a:xfrm>
          <a:prstGeom prst="roundRect">
            <a:avLst>
              <a:gd name="adj" fmla="val 17391"/>
            </a:avLst>
          </a:prstGeom>
          <a:solidFill>
            <a:schemeClr val="bg2"/>
          </a:solidFill>
          <a:ln/>
        </p:spPr>
      </p:sp>
      <p:sp>
        <p:nvSpPr>
          <p:cNvPr id="7" name="Text 4"/>
          <p:cNvSpPr txBox="1"/>
          <p:nvPr/>
        </p:nvSpPr>
        <p:spPr>
          <a:xfrm>
            <a:off x="685800" y="2020824"/>
            <a:ext cx="2468880" cy="420624"/>
          </a:xfrm>
          <a:prstGeom prst="rect">
            <a:avLst/>
          </a:prstGeom>
          <a:noFill/>
          <a:ln/>
        </p:spPr>
        <p:txBody>
          <a:bodyPr wrap="square" lIns="0" tIns="0" rIns="0" bIns="0" rtlCol="0" anchor="ctr"/>
          <a:lstStyle/>
          <a:p>
            <a:pPr indent="0" marL="0">
              <a:buNone/>
            </a:pPr>
            <a:r>
              <a:rPr lang="en-US" sz="1400" dirty="0">
                <a:solidFill>
                  <a:schemeClr val="tx1"/>
                </a:solidFill>
              </a:rPr>
              <a:t>Data breach or leakage</a:t>
            </a:r>
            <a:endParaRPr lang="en-US" sz="1400" dirty="0"/>
          </a:p>
        </p:txBody>
      </p:sp>
      <p:sp>
        <p:nvSpPr>
          <p:cNvPr id="8" name="Shape 5"/>
          <p:cNvSpPr/>
          <p:nvPr/>
        </p:nvSpPr>
        <p:spPr>
          <a:xfrm>
            <a:off x="548640" y="2532888"/>
            <a:ext cx="2697480" cy="420624"/>
          </a:xfrm>
          <a:prstGeom prst="roundRect">
            <a:avLst>
              <a:gd name="adj" fmla="val 17391"/>
            </a:avLst>
          </a:prstGeom>
          <a:solidFill>
            <a:schemeClr val="bg2"/>
          </a:solidFill>
          <a:ln/>
        </p:spPr>
      </p:sp>
      <p:sp>
        <p:nvSpPr>
          <p:cNvPr id="9" name="Text 6"/>
          <p:cNvSpPr txBox="1"/>
          <p:nvPr/>
        </p:nvSpPr>
        <p:spPr>
          <a:xfrm>
            <a:off x="685800" y="2532888"/>
            <a:ext cx="2468880" cy="420624"/>
          </a:xfrm>
          <a:prstGeom prst="rect">
            <a:avLst/>
          </a:prstGeom>
          <a:noFill/>
          <a:ln/>
        </p:spPr>
        <p:txBody>
          <a:bodyPr wrap="square" lIns="0" tIns="0" rIns="0" bIns="0" rtlCol="0" anchor="ctr"/>
          <a:lstStyle/>
          <a:p>
            <a:pPr indent="0" marL="0">
              <a:buNone/>
            </a:pPr>
            <a:r>
              <a:rPr lang="en-US" sz="1400" dirty="0">
                <a:solidFill>
                  <a:schemeClr val="tx1"/>
                </a:solidFill>
              </a:rPr>
              <a:t>Float and safeguarding</a:t>
            </a:r>
            <a:endParaRPr lang="en-US" sz="1400" dirty="0"/>
          </a:p>
        </p:txBody>
      </p:sp>
      <p:sp>
        <p:nvSpPr>
          <p:cNvPr id="10" name="Shape 7"/>
          <p:cNvSpPr/>
          <p:nvPr/>
        </p:nvSpPr>
        <p:spPr>
          <a:xfrm>
            <a:off x="548640" y="3044952"/>
            <a:ext cx="2697480" cy="420624"/>
          </a:xfrm>
          <a:prstGeom prst="roundRect">
            <a:avLst>
              <a:gd name="adj" fmla="val 17391"/>
            </a:avLst>
          </a:prstGeom>
          <a:solidFill>
            <a:schemeClr val="bg2"/>
          </a:solidFill>
          <a:ln/>
        </p:spPr>
      </p:sp>
      <p:sp>
        <p:nvSpPr>
          <p:cNvPr id="11" name="Text 8"/>
          <p:cNvSpPr txBox="1"/>
          <p:nvPr/>
        </p:nvSpPr>
        <p:spPr>
          <a:xfrm>
            <a:off x="685800" y="3044952"/>
            <a:ext cx="2468880" cy="420624"/>
          </a:xfrm>
          <a:prstGeom prst="rect">
            <a:avLst/>
          </a:prstGeom>
          <a:noFill/>
          <a:ln/>
        </p:spPr>
        <p:txBody>
          <a:bodyPr wrap="square" lIns="0" tIns="0" rIns="0" bIns="0" rtlCol="0" anchor="ctr"/>
          <a:lstStyle/>
          <a:p>
            <a:pPr indent="0" marL="0">
              <a:buNone/>
            </a:pPr>
            <a:r>
              <a:rPr lang="en-US" sz="1400" dirty="0">
                <a:solidFill>
                  <a:schemeClr val="tx1"/>
                </a:solidFill>
              </a:rPr>
              <a:t>Ledger integrity</a:t>
            </a:r>
            <a:endParaRPr lang="en-US" sz="1400" dirty="0"/>
          </a:p>
        </p:txBody>
      </p:sp>
      <p:sp>
        <p:nvSpPr>
          <p:cNvPr id="12" name="Shape 9"/>
          <p:cNvSpPr/>
          <p:nvPr/>
        </p:nvSpPr>
        <p:spPr>
          <a:xfrm>
            <a:off x="548640" y="3557016"/>
            <a:ext cx="2697480" cy="420624"/>
          </a:xfrm>
          <a:prstGeom prst="roundRect">
            <a:avLst>
              <a:gd name="adj" fmla="val 17391"/>
            </a:avLst>
          </a:prstGeom>
          <a:solidFill>
            <a:schemeClr val="bg2"/>
          </a:solidFill>
          <a:ln/>
        </p:spPr>
      </p:sp>
      <p:sp>
        <p:nvSpPr>
          <p:cNvPr id="13" name="Text 10"/>
          <p:cNvSpPr txBox="1"/>
          <p:nvPr/>
        </p:nvSpPr>
        <p:spPr>
          <a:xfrm>
            <a:off x="685800" y="3557016"/>
            <a:ext cx="2468880" cy="420624"/>
          </a:xfrm>
          <a:prstGeom prst="rect">
            <a:avLst/>
          </a:prstGeom>
          <a:noFill/>
          <a:ln/>
        </p:spPr>
        <p:txBody>
          <a:bodyPr wrap="square" lIns="0" tIns="0" rIns="0" bIns="0" rtlCol="0" anchor="ctr"/>
          <a:lstStyle/>
          <a:p>
            <a:pPr indent="0" marL="0">
              <a:buNone/>
            </a:pPr>
            <a:r>
              <a:rPr lang="en-US" sz="1400" dirty="0">
                <a:solidFill>
                  <a:schemeClr val="tx1"/>
                </a:solidFill>
              </a:rPr>
              <a:t>Payment and top-up fraud</a:t>
            </a:r>
            <a:endParaRPr lang="en-US" sz="1400" dirty="0"/>
          </a:p>
        </p:txBody>
      </p:sp>
      <p:sp>
        <p:nvSpPr>
          <p:cNvPr id="14" name="Shape 11"/>
          <p:cNvSpPr/>
          <p:nvPr/>
        </p:nvSpPr>
        <p:spPr>
          <a:xfrm>
            <a:off x="548640" y="4069080"/>
            <a:ext cx="2697480" cy="420624"/>
          </a:xfrm>
          <a:prstGeom prst="roundRect">
            <a:avLst>
              <a:gd name="adj" fmla="val 17391"/>
            </a:avLst>
          </a:prstGeom>
          <a:solidFill>
            <a:schemeClr val="bg2"/>
          </a:solidFill>
          <a:ln/>
        </p:spPr>
      </p:sp>
      <p:sp>
        <p:nvSpPr>
          <p:cNvPr id="15" name="Text 12"/>
          <p:cNvSpPr txBox="1"/>
          <p:nvPr/>
        </p:nvSpPr>
        <p:spPr>
          <a:xfrm>
            <a:off x="685800" y="4069080"/>
            <a:ext cx="2468880" cy="420624"/>
          </a:xfrm>
          <a:prstGeom prst="rect">
            <a:avLst/>
          </a:prstGeom>
          <a:noFill/>
          <a:ln/>
        </p:spPr>
        <p:txBody>
          <a:bodyPr wrap="square" lIns="0" tIns="0" rIns="0" bIns="0" rtlCol="0" anchor="ctr"/>
          <a:lstStyle/>
          <a:p>
            <a:pPr indent="0" marL="0">
              <a:buNone/>
            </a:pPr>
            <a:r>
              <a:rPr lang="en-US" sz="1400" dirty="0">
                <a:solidFill>
                  <a:schemeClr val="tx1"/>
                </a:solidFill>
              </a:rPr>
              <a:t>QR payment fraud</a:t>
            </a:r>
            <a:endParaRPr lang="en-US" sz="1400" dirty="0"/>
          </a:p>
        </p:txBody>
      </p:sp>
      <p:sp>
        <p:nvSpPr>
          <p:cNvPr id="16" name="Shape 13"/>
          <p:cNvSpPr/>
          <p:nvPr/>
        </p:nvSpPr>
        <p:spPr>
          <a:xfrm>
            <a:off x="548640" y="4581144"/>
            <a:ext cx="2697480" cy="420624"/>
          </a:xfrm>
          <a:prstGeom prst="roundRect">
            <a:avLst>
              <a:gd name="adj" fmla="val 17391"/>
            </a:avLst>
          </a:prstGeom>
          <a:solidFill>
            <a:schemeClr val="bg2"/>
          </a:solidFill>
          <a:ln/>
        </p:spPr>
      </p:sp>
      <p:sp>
        <p:nvSpPr>
          <p:cNvPr id="17" name="Text 14"/>
          <p:cNvSpPr txBox="1"/>
          <p:nvPr/>
        </p:nvSpPr>
        <p:spPr>
          <a:xfrm>
            <a:off x="685800" y="4581144"/>
            <a:ext cx="2468880" cy="420624"/>
          </a:xfrm>
          <a:prstGeom prst="rect">
            <a:avLst/>
          </a:prstGeom>
          <a:noFill/>
          <a:ln/>
        </p:spPr>
        <p:txBody>
          <a:bodyPr wrap="square" lIns="0" tIns="0" rIns="0" bIns="0" rtlCol="0" anchor="ctr"/>
          <a:lstStyle/>
          <a:p>
            <a:pPr indent="0" marL="0">
              <a:buNone/>
            </a:pPr>
            <a:r>
              <a:rPr lang="en-US" sz="1400" dirty="0">
                <a:solidFill>
                  <a:schemeClr val="tx1"/>
                </a:solidFill>
              </a:rPr>
              <a:t>Account takeover</a:t>
            </a:r>
            <a:endParaRPr lang="en-US" sz="1400" dirty="0"/>
          </a:p>
        </p:txBody>
      </p:sp>
      <p:sp>
        <p:nvSpPr>
          <p:cNvPr id="18" name="Shape 15"/>
          <p:cNvSpPr/>
          <p:nvPr/>
        </p:nvSpPr>
        <p:spPr>
          <a:xfrm>
            <a:off x="3383280" y="1508760"/>
            <a:ext cx="2697480" cy="420624"/>
          </a:xfrm>
          <a:prstGeom prst="roundRect">
            <a:avLst>
              <a:gd name="adj" fmla="val 17391"/>
            </a:avLst>
          </a:prstGeom>
          <a:solidFill>
            <a:schemeClr val="bg2"/>
          </a:solidFill>
          <a:ln/>
        </p:spPr>
      </p:sp>
      <p:sp>
        <p:nvSpPr>
          <p:cNvPr id="19" name="Text 16"/>
          <p:cNvSpPr txBox="1"/>
          <p:nvPr/>
        </p:nvSpPr>
        <p:spPr>
          <a:xfrm>
            <a:off x="3520440" y="1508760"/>
            <a:ext cx="2468880" cy="420624"/>
          </a:xfrm>
          <a:prstGeom prst="rect">
            <a:avLst/>
          </a:prstGeom>
          <a:noFill/>
          <a:ln/>
        </p:spPr>
        <p:txBody>
          <a:bodyPr wrap="square" lIns="0" tIns="0" rIns="0" bIns="0" rtlCol="0" anchor="ctr"/>
          <a:lstStyle/>
          <a:p>
            <a:pPr indent="0" marL="0">
              <a:buNone/>
            </a:pPr>
            <a:r>
              <a:rPr lang="en-US" sz="1400" dirty="0">
                <a:solidFill>
                  <a:schemeClr val="tx1"/>
                </a:solidFill>
              </a:rPr>
              <a:t>Internal fraud</a:t>
            </a:r>
            <a:endParaRPr lang="en-US" sz="1400" dirty="0"/>
          </a:p>
        </p:txBody>
      </p:sp>
      <p:sp>
        <p:nvSpPr>
          <p:cNvPr id="20" name="Shape 17"/>
          <p:cNvSpPr/>
          <p:nvPr/>
        </p:nvSpPr>
        <p:spPr>
          <a:xfrm>
            <a:off x="3383280" y="2020824"/>
            <a:ext cx="2697480" cy="420624"/>
          </a:xfrm>
          <a:prstGeom prst="roundRect">
            <a:avLst>
              <a:gd name="adj" fmla="val 17391"/>
            </a:avLst>
          </a:prstGeom>
          <a:solidFill>
            <a:schemeClr val="bg2"/>
          </a:solidFill>
          <a:ln/>
        </p:spPr>
      </p:sp>
      <p:sp>
        <p:nvSpPr>
          <p:cNvPr id="21" name="Text 18"/>
          <p:cNvSpPr txBox="1"/>
          <p:nvPr/>
        </p:nvSpPr>
        <p:spPr>
          <a:xfrm>
            <a:off x="3520440" y="2020824"/>
            <a:ext cx="2468880" cy="420624"/>
          </a:xfrm>
          <a:prstGeom prst="rect">
            <a:avLst/>
          </a:prstGeom>
          <a:noFill/>
          <a:ln/>
        </p:spPr>
        <p:txBody>
          <a:bodyPr wrap="square" lIns="0" tIns="0" rIns="0" bIns="0" rtlCol="0" anchor="ctr"/>
          <a:lstStyle/>
          <a:p>
            <a:pPr indent="0" marL="0">
              <a:buNone/>
            </a:pPr>
            <a:r>
              <a:rPr lang="en-US" sz="1400" dirty="0">
                <a:solidFill>
                  <a:schemeClr val="tx1"/>
                </a:solidFill>
              </a:rPr>
              <a:t>Policy violation</a:t>
            </a:r>
            <a:endParaRPr lang="en-US" sz="1400" dirty="0"/>
          </a:p>
        </p:txBody>
      </p:sp>
      <p:sp>
        <p:nvSpPr>
          <p:cNvPr id="22" name="Shape 19"/>
          <p:cNvSpPr/>
          <p:nvPr/>
        </p:nvSpPr>
        <p:spPr>
          <a:xfrm>
            <a:off x="3383280" y="2532888"/>
            <a:ext cx="2697480" cy="420624"/>
          </a:xfrm>
          <a:prstGeom prst="roundRect">
            <a:avLst>
              <a:gd name="adj" fmla="val 17391"/>
            </a:avLst>
          </a:prstGeom>
          <a:solidFill>
            <a:schemeClr val="bg2"/>
          </a:solidFill>
          <a:ln/>
        </p:spPr>
      </p:sp>
      <p:sp>
        <p:nvSpPr>
          <p:cNvPr id="23" name="Text 20"/>
          <p:cNvSpPr txBox="1"/>
          <p:nvPr/>
        </p:nvSpPr>
        <p:spPr>
          <a:xfrm>
            <a:off x="3520440" y="2532888"/>
            <a:ext cx="2468880" cy="420624"/>
          </a:xfrm>
          <a:prstGeom prst="rect">
            <a:avLst/>
          </a:prstGeom>
          <a:noFill/>
          <a:ln/>
        </p:spPr>
        <p:txBody>
          <a:bodyPr wrap="square" lIns="0" tIns="0" rIns="0" bIns="0" rtlCol="0" anchor="ctr"/>
          <a:lstStyle/>
          <a:p>
            <a:pPr indent="0" marL="0">
              <a:buNone/>
            </a:pPr>
            <a:r>
              <a:rPr lang="en-US" sz="1400" dirty="0">
                <a:solidFill>
                  <a:schemeClr val="tx1"/>
                </a:solidFill>
              </a:rPr>
              <a:t>Malware and ransomware</a:t>
            </a:r>
            <a:endParaRPr lang="en-US" sz="1400" dirty="0"/>
          </a:p>
        </p:txBody>
      </p:sp>
      <p:sp>
        <p:nvSpPr>
          <p:cNvPr id="24" name="Shape 21"/>
          <p:cNvSpPr/>
          <p:nvPr/>
        </p:nvSpPr>
        <p:spPr>
          <a:xfrm>
            <a:off x="3383280" y="3044952"/>
            <a:ext cx="2697480" cy="420624"/>
          </a:xfrm>
          <a:prstGeom prst="roundRect">
            <a:avLst>
              <a:gd name="adj" fmla="val 17391"/>
            </a:avLst>
          </a:prstGeom>
          <a:solidFill>
            <a:schemeClr val="bg2"/>
          </a:solidFill>
          <a:ln/>
        </p:spPr>
      </p:sp>
      <p:sp>
        <p:nvSpPr>
          <p:cNvPr id="25" name="Text 22"/>
          <p:cNvSpPr txBox="1"/>
          <p:nvPr/>
        </p:nvSpPr>
        <p:spPr>
          <a:xfrm>
            <a:off x="3520440" y="3044952"/>
            <a:ext cx="2468880" cy="420624"/>
          </a:xfrm>
          <a:prstGeom prst="rect">
            <a:avLst/>
          </a:prstGeom>
          <a:noFill/>
          <a:ln/>
        </p:spPr>
        <p:txBody>
          <a:bodyPr wrap="square" lIns="0" tIns="0" rIns="0" bIns="0" rtlCol="0" anchor="ctr"/>
          <a:lstStyle/>
          <a:p>
            <a:pPr indent="0" marL="0">
              <a:buNone/>
            </a:pPr>
            <a:r>
              <a:rPr lang="en-US" sz="1400" dirty="0">
                <a:solidFill>
                  <a:schemeClr val="tx1"/>
                </a:solidFill>
              </a:rPr>
              <a:t>Availability and DoS</a:t>
            </a:r>
            <a:endParaRPr lang="en-US" sz="1400" dirty="0"/>
          </a:p>
        </p:txBody>
      </p:sp>
      <p:sp>
        <p:nvSpPr>
          <p:cNvPr id="26" name="Shape 23"/>
          <p:cNvSpPr/>
          <p:nvPr/>
        </p:nvSpPr>
        <p:spPr>
          <a:xfrm>
            <a:off x="3383280" y="3557016"/>
            <a:ext cx="2697480" cy="420624"/>
          </a:xfrm>
          <a:prstGeom prst="roundRect">
            <a:avLst>
              <a:gd name="adj" fmla="val 17391"/>
            </a:avLst>
          </a:prstGeom>
          <a:solidFill>
            <a:schemeClr val="bg2"/>
          </a:solidFill>
          <a:ln/>
        </p:spPr>
      </p:sp>
      <p:sp>
        <p:nvSpPr>
          <p:cNvPr id="27" name="Text 24"/>
          <p:cNvSpPr txBox="1"/>
          <p:nvPr/>
        </p:nvSpPr>
        <p:spPr>
          <a:xfrm>
            <a:off x="3520440" y="3557016"/>
            <a:ext cx="2468880" cy="420624"/>
          </a:xfrm>
          <a:prstGeom prst="rect">
            <a:avLst/>
          </a:prstGeom>
          <a:noFill/>
          <a:ln/>
        </p:spPr>
        <p:txBody>
          <a:bodyPr wrap="square" lIns="0" tIns="0" rIns="0" bIns="0" rtlCol="0" anchor="ctr"/>
          <a:lstStyle/>
          <a:p>
            <a:pPr indent="0" marL="0">
              <a:buNone/>
            </a:pPr>
            <a:r>
              <a:rPr lang="en-US" sz="1400" dirty="0">
                <a:solidFill>
                  <a:schemeClr val="tx1"/>
                </a:solidFill>
              </a:rPr>
              <a:t>Third-party incident</a:t>
            </a:r>
            <a:endParaRPr lang="en-US" sz="1400" dirty="0"/>
          </a:p>
        </p:txBody>
      </p:sp>
      <p:sp>
        <p:nvSpPr>
          <p:cNvPr id="28" name="Shape 25"/>
          <p:cNvSpPr/>
          <p:nvPr/>
        </p:nvSpPr>
        <p:spPr>
          <a:xfrm>
            <a:off x="3383280" y="4069080"/>
            <a:ext cx="2697480" cy="420624"/>
          </a:xfrm>
          <a:prstGeom prst="roundRect">
            <a:avLst>
              <a:gd name="adj" fmla="val 17391"/>
            </a:avLst>
          </a:prstGeom>
          <a:solidFill>
            <a:schemeClr val="bg2"/>
          </a:solidFill>
          <a:ln/>
        </p:spPr>
      </p:sp>
      <p:sp>
        <p:nvSpPr>
          <p:cNvPr id="29" name="Text 26"/>
          <p:cNvSpPr txBox="1"/>
          <p:nvPr/>
        </p:nvSpPr>
        <p:spPr>
          <a:xfrm>
            <a:off x="3520440" y="4069080"/>
            <a:ext cx="2468880" cy="420624"/>
          </a:xfrm>
          <a:prstGeom prst="rect">
            <a:avLst/>
          </a:prstGeom>
          <a:noFill/>
          <a:ln/>
        </p:spPr>
        <p:txBody>
          <a:bodyPr wrap="square" lIns="0" tIns="0" rIns="0" bIns="0" rtlCol="0" anchor="ctr"/>
          <a:lstStyle/>
          <a:p>
            <a:pPr indent="0" marL="0">
              <a:buNone/>
            </a:pPr>
            <a:r>
              <a:rPr lang="en-US" sz="1400" dirty="0">
                <a:solidFill>
                  <a:schemeClr val="tx1"/>
                </a:solidFill>
              </a:rPr>
              <a:t>Suspicious activity</a:t>
            </a:r>
            <a:endParaRPr lang="en-US" sz="1400" dirty="0"/>
          </a:p>
        </p:txBody>
      </p:sp>
      <p:sp>
        <p:nvSpPr>
          <p:cNvPr id="30" name="Shape 27"/>
          <p:cNvSpPr/>
          <p:nvPr/>
        </p:nvSpPr>
        <p:spPr>
          <a:xfrm>
            <a:off x="3383280" y="4581144"/>
            <a:ext cx="2697480" cy="420624"/>
          </a:xfrm>
          <a:prstGeom prst="roundRect">
            <a:avLst>
              <a:gd name="adj" fmla="val 17391"/>
            </a:avLst>
          </a:prstGeom>
          <a:solidFill>
            <a:schemeClr val="bg2"/>
          </a:solidFill>
          <a:ln/>
        </p:spPr>
      </p:sp>
      <p:sp>
        <p:nvSpPr>
          <p:cNvPr id="31" name="Text 28"/>
          <p:cNvSpPr txBox="1"/>
          <p:nvPr/>
        </p:nvSpPr>
        <p:spPr>
          <a:xfrm>
            <a:off x="3520440" y="4581144"/>
            <a:ext cx="2468880" cy="420624"/>
          </a:xfrm>
          <a:prstGeom prst="rect">
            <a:avLst/>
          </a:prstGeom>
          <a:noFill/>
          <a:ln/>
        </p:spPr>
        <p:txBody>
          <a:bodyPr wrap="square" lIns="0" tIns="0" rIns="0" bIns="0" rtlCol="0" anchor="ctr"/>
          <a:lstStyle/>
          <a:p>
            <a:pPr indent="0" marL="0">
              <a:buNone/>
            </a:pPr>
            <a:r>
              <a:rPr lang="en-US" sz="1400" dirty="0">
                <a:solidFill>
                  <a:schemeClr val="tx1"/>
                </a:solidFill>
              </a:rPr>
              <a:t>DuitNow linked fraud</a:t>
            </a:r>
            <a:endParaRPr lang="en-US" sz="1400" dirty="0"/>
          </a:p>
        </p:txBody>
      </p:sp>
      <p:sp>
        <p:nvSpPr>
          <p:cNvPr id="32" name="Text 29"/>
          <p:cNvSpPr txBox="1"/>
          <p:nvPr/>
        </p:nvSpPr>
        <p:spPr>
          <a:xfrm>
            <a:off x="548640" y="5212080"/>
            <a:ext cx="5532120" cy="1005840"/>
          </a:xfrm>
          <a:prstGeom prst="rect">
            <a:avLst/>
          </a:prstGeom>
          <a:noFill/>
          <a:ln/>
        </p:spPr>
        <p:txBody>
          <a:bodyPr wrap="square" lIns="0" tIns="0" rIns="0" bIns="0" rtlCol="0" anchor="t"/>
          <a:lstStyle/>
          <a:p>
            <a:pPr indent="0" marL="0">
              <a:buNone/>
            </a:pPr>
            <a:r>
              <a:rPr lang="en-US" sz="1400" dirty="0">
                <a:solidFill>
                  <a:schemeClr val="tx2"/>
                </a:solidFill>
              </a:rPr>
              <a:t>Eight detection sources, from monitoring alerts and reconciliation breaks to customer, merchant and regulator reports. Data breach, float, account takeover, third-party and regulator-reported cases are flagged for at least P2; a downgrade needs a documented reason.</a:t>
            </a:r>
            <a:endParaRPr lang="en-US" sz="1400" dirty="0"/>
          </a:p>
        </p:txBody>
      </p:sp>
      <p:sp>
        <p:nvSpPr>
          <p:cNvPr id="33" name="frame s_inc_raise"/>
          <p:cNvSpPr/>
          <p:nvPr/>
        </p:nvSpPr>
        <p:spPr>
          <a:xfrm>
            <a:off x="6830568" y="1435608"/>
            <a:ext cx="4718304" cy="4523474"/>
          </a:xfrm>
          <a:prstGeom prst="roundRect">
            <a:avLst>
              <a:gd name="adj" fmla="val 2021"/>
            </a:avLst>
          </a:prstGeom>
          <a:solidFill>
            <a:schemeClr val="bg1"/>
          </a:solidFill>
          <a:ln w="12700">
            <a:solidFill>
              <a:srgbClr val="D9D4F2"/>
            </a:solidFill>
            <a:prstDash val="solid"/>
          </a:ln>
          <a:effectLst>
            <a:outerShdw sx="100000" sy="100000" kx="0" ky="0" algn="bl" rotWithShape="0" blurRad="101600" dist="25400" dir="5400000">
              <a:srgbClr val="2B2566">
                <a:alpha val="14000"/>
              </a:srgbClr>
            </a:outerShdw>
          </a:effectLst>
        </p:spPr>
      </p:sp>
      <p:pic>
        <p:nvPicPr>
          <p:cNvPr id="34" name="screen s_inc_raise" descr="Raise an Incident: paste a screenshot or drag a file in">    </p:cNvPr>
          <p:cNvPicPr>
            <a:picLocks noChangeAspect="1"/>
          </p:cNvPicPr>
          <p:nvPr/>
        </p:nvPicPr>
        <p:blipFill>
          <a:blip r:embed="rId1"/>
          <a:stretch>
            <a:fillRect/>
          </a:stretch>
        </p:blipFill>
        <p:spPr>
          <a:xfrm>
            <a:off x="6903720" y="1508760"/>
            <a:ext cx="4572000" cy="4377170"/>
          </a:xfrm>
          <a:prstGeom prst="rect">
            <a:avLst/>
          </a:prstGeom>
        </p:spPr>
      </p:pic>
      <p:sp>
        <p:nvSpPr>
          <p:cNvPr id="35" name="Text 31"/>
          <p:cNvSpPr txBox="1"/>
          <p:nvPr/>
        </p:nvSpPr>
        <p:spPr>
          <a:xfrm>
            <a:off x="6830568" y="6013946"/>
            <a:ext cx="4718304" cy="256032"/>
          </a:xfrm>
          <a:prstGeom prst="rect">
            <a:avLst/>
          </a:prstGeom>
          <a:noFill/>
          <a:ln/>
        </p:spPr>
        <p:txBody>
          <a:bodyPr wrap="square" lIns="0" tIns="0" rIns="0" bIns="0" rtlCol="0" anchor="ctr"/>
          <a:lstStyle/>
          <a:p>
            <a:pPr indent="0" marL="0">
              <a:buNone/>
            </a:pPr>
            <a:r>
              <a:rPr lang="en-US" sz="1100" i="1" dirty="0">
                <a:solidFill>
                  <a:schemeClr val="accent6"/>
                </a:solidFill>
              </a:rPr>
              <a:t>Raise an Incident: paste a screenshot or drag a file in</a:t>
            </a:r>
            <a:endParaRPr lang="en-US" sz="11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Escalation clocks that run without anyone watching</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4480560" cy="914400"/>
        </p:xfrm>
        <a:graphic>
          <a:graphicData uri="http://schemas.openxmlformats.org/drawingml/2006/table">
            <a:tbl>
              <a:tblPr/>
              <a:tblGrid>
                <a:gridCol w="1463040"/>
                <a:gridCol w="1508760"/>
                <a:gridCol w="1508760"/>
              </a:tblGrid>
              <a:tr h="0">
                <a:tc>
                  <a:txBody>
                    <a:bodyPr/>
                    <a:lstStyle/>
                    <a:p>
                      <a:pPr indent="0" marL="0">
                        <a:buNone/>
                      </a:pPr>
                      <a:r>
                        <a:rPr lang="en-US" sz="1400" b="1" dirty="0">
                          <a:solidFill>
                            <a:srgbClr val="FFFFFF"/>
                          </a:solidFill>
                        </a:rPr>
                        <a:t>Severity</a:t>
                      </a:r>
                      <a:endParaRPr lang="en-US" sz="1400" dirty="0"/>
                    </a:p>
                  </a:txBody>
                  <a:tcPr marL="91440" marR="91440" marT="54864" marB="54864" anchor="ctr">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2B2566"/>
                    </a:solidFill>
                  </a:tcPr>
                </a:tc>
                <a:tc>
                  <a:txBody>
                    <a:bodyPr/>
                    <a:lstStyle/>
                    <a:p>
                      <a:pPr indent="0" marL="0">
                        <a:buNone/>
                      </a:pPr>
                      <a:r>
                        <a:rPr lang="en-US" sz="1400" b="1" dirty="0">
                          <a:solidFill>
                            <a:srgbClr val="FFFFFF"/>
                          </a:solidFill>
                        </a:rPr>
                        <a:t>To level 2 after</a:t>
                      </a:r>
                      <a:endParaRPr lang="en-US" sz="1400" dirty="0"/>
                    </a:p>
                  </a:txBody>
                  <a:tcPr marL="91440" marR="91440" marT="54864" marB="54864" anchor="ctr">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2B2566"/>
                    </a:solidFill>
                  </a:tcPr>
                </a:tc>
                <a:tc>
                  <a:txBody>
                    <a:bodyPr/>
                    <a:lstStyle/>
                    <a:p>
                      <a:pPr indent="0" marL="0">
                        <a:buNone/>
                      </a:pPr>
                      <a:r>
                        <a:rPr lang="en-US" sz="1400" b="1" dirty="0">
                          <a:solidFill>
                            <a:srgbClr val="FFFFFF"/>
                          </a:solidFill>
                        </a:rPr>
                        <a:t>To level 3 after</a:t>
                      </a:r>
                      <a:endParaRPr lang="en-US" sz="1400" dirty="0"/>
                    </a:p>
                  </a:txBody>
                  <a:tcPr marL="91440" marR="91440" marT="54864" marB="54864" anchor="ctr">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2B2566"/>
                    </a:solidFill>
                  </a:tcPr>
                </a:tc>
              </a:tr>
              <a:tr h="0">
                <a:tc>
                  <a:txBody>
                    <a:bodyPr/>
                    <a:lstStyle/>
                    <a:p>
                      <a:pPr indent="0" marL="0">
                        <a:buNone/>
                      </a:pPr>
                      <a:r>
                        <a:rPr lang="en-US" sz="1400" dirty="0">
                          <a:solidFill>
                            <a:srgbClr val="15122E"/>
                          </a:solidFill>
                        </a:rPr>
                        <a:t>P1  Critical</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15 minutes</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1 hour</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r>
              <a:tr h="0">
                <a:tc>
                  <a:txBody>
                    <a:bodyPr/>
                    <a:lstStyle/>
                    <a:p>
                      <a:pPr indent="0" marL="0">
                        <a:buNone/>
                      </a:pPr>
                      <a:r>
                        <a:rPr lang="en-US" sz="1400" dirty="0">
                          <a:solidFill>
                            <a:srgbClr val="15122E"/>
                          </a:solidFill>
                        </a:rPr>
                        <a:t>P2  High</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1 hour</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4 hours</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5122E"/>
                          </a:solidFill>
                        </a:rPr>
                        <a:t>P3  Medium</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1 day</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30 days</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r>
              <a:tr h="0">
                <a:tc>
                  <a:txBody>
                    <a:bodyPr/>
                    <a:lstStyle/>
                    <a:p>
                      <a:pPr indent="0" marL="0">
                        <a:buNone/>
                      </a:pPr>
                      <a:r>
                        <a:rPr lang="en-US" sz="1400" dirty="0">
                          <a:solidFill>
                            <a:srgbClr val="15122E"/>
                          </a:solidFill>
                        </a:rPr>
                        <a:t>P4  Low</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7 days</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30 days</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3931920"/>
            <a:ext cx="4480560" cy="237744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chemeClr val="tx1"/>
                </a:solidFill>
              </a:rPr>
              <a:t>Defaults shown, editable per severity, with an optional business-hours schedule.</a:t>
            </a:r>
            <a:endParaRPr lang="en-US" sz="1500" dirty="0"/>
          </a:p>
          <a:p>
            <a:pPr marL="228600" indent="-228600">
              <a:spcAft>
                <a:spcPts val="900"/>
              </a:spcAft>
              <a:buSzPct val="100000"/>
              <a:buChar char="•"/>
            </a:pPr>
            <a:r>
              <a:rPr lang="en-US" sz="1500" dirty="0">
                <a:solidFill>
                  <a:schemeClr val="tx1"/>
                </a:solidFill>
              </a:rPr>
              <a:t>Recipients are configurable and include holders of the incident-manager permission.</a:t>
            </a:r>
            <a:endParaRPr lang="en-US" sz="1500" dirty="0"/>
          </a:p>
          <a:p>
            <a:pPr marL="228600" indent="-228600">
              <a:spcAft>
                <a:spcPts val="900"/>
              </a:spcAft>
              <a:buSzPct val="100000"/>
              <a:buChar char="•"/>
            </a:pPr>
            <a:r>
              <a:rPr lang="en-US" sz="1500" dirty="0">
                <a:solidFill>
                  <a:schemeClr val="tx1"/>
                </a:solidFill>
              </a:rPr>
              <a:t>Each escalation is notified in-app and by e-mail and written to the incident’s history.</a:t>
            </a:r>
            <a:endParaRPr lang="en-US" sz="1500" dirty="0"/>
          </a:p>
        </p:txBody>
      </p:sp>
      <p:sp>
        <p:nvSpPr>
          <p:cNvPr id="6" name="frame s_inc_timers"/>
          <p:cNvSpPr/>
          <p:nvPr/>
        </p:nvSpPr>
        <p:spPr>
          <a:xfrm>
            <a:off x="5276088" y="1481328"/>
            <a:ext cx="6409944" cy="3898794"/>
          </a:xfrm>
          <a:prstGeom prst="roundRect">
            <a:avLst>
              <a:gd name="adj" fmla="val 2345"/>
            </a:avLst>
          </a:prstGeom>
          <a:solidFill>
            <a:schemeClr val="bg1"/>
          </a:solidFill>
          <a:ln w="12700">
            <a:solidFill>
              <a:srgbClr val="D9D4F2"/>
            </a:solidFill>
            <a:prstDash val="solid"/>
          </a:ln>
          <a:effectLst>
            <a:outerShdw sx="100000" sy="100000" kx="0" ky="0" algn="bl" rotWithShape="0" blurRad="101600" dist="25400" dir="5400000">
              <a:srgbClr val="2B2566">
                <a:alpha val="14000"/>
              </a:srgbClr>
            </a:outerShdw>
          </a:effectLst>
        </p:spPr>
      </p:sp>
      <p:pic>
        <p:nvPicPr>
          <p:cNvPr id="7" name="screen s_inc_timers" descr="Settings: escalation timers per severity">    </p:cNvPr>
          <p:cNvPicPr>
            <a:picLocks noChangeAspect="1"/>
          </p:cNvPicPr>
          <p:nvPr/>
        </p:nvPicPr>
        <p:blipFill>
          <a:blip r:embed="rId1"/>
          <a:stretch>
            <a:fillRect/>
          </a:stretch>
        </p:blipFill>
        <p:spPr>
          <a:xfrm>
            <a:off x="5349240" y="1554480"/>
            <a:ext cx="6263640" cy="3752490"/>
          </a:xfrm>
          <a:prstGeom prst="rect">
            <a:avLst/>
          </a:prstGeom>
        </p:spPr>
      </p:pic>
      <p:sp>
        <p:nvSpPr>
          <p:cNvPr id="8" name="Text 3"/>
          <p:cNvSpPr txBox="1"/>
          <p:nvPr/>
        </p:nvSpPr>
        <p:spPr>
          <a:xfrm>
            <a:off x="5276088" y="5434986"/>
            <a:ext cx="6409944" cy="256032"/>
          </a:xfrm>
          <a:prstGeom prst="rect">
            <a:avLst/>
          </a:prstGeom>
          <a:noFill/>
          <a:ln/>
        </p:spPr>
        <p:txBody>
          <a:bodyPr wrap="square" lIns="0" tIns="0" rIns="0" bIns="0" rtlCol="0" anchor="ctr"/>
          <a:lstStyle/>
          <a:p>
            <a:pPr indent="0" marL="0">
              <a:buNone/>
            </a:pPr>
            <a:r>
              <a:rPr lang="en-US" sz="1100" i="1" dirty="0">
                <a:solidFill>
                  <a:schemeClr val="accent6"/>
                </a:solidFill>
              </a:rPr>
              <a:t>Settings: escalation timers per severity</a:t>
            </a:r>
            <a:endParaRPr lang="en-US" sz="11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Everything an investigation needs, in one record</a:t>
            </a:r>
            <a:endParaRPr lang="en-US" sz="3200" dirty="0"/>
          </a:p>
        </p:txBody>
      </p:sp>
      <p:sp>
        <p:nvSpPr>
          <p:cNvPr id="4" name="icon bg Timeline"/>
          <p:cNvSpPr/>
          <p:nvPr/>
        </p:nvSpPr>
        <p:spPr>
          <a:xfrm>
            <a:off x="548640" y="1554480"/>
            <a:ext cx="566928" cy="56692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685800" y="1691640"/>
            <a:ext cx="292608" cy="292608"/>
          </a:xfrm>
          <a:prstGeom prst="rect">
            <a:avLst/>
          </a:prstGeom>
        </p:spPr>
      </p:pic>
      <p:sp>
        <p:nvSpPr>
          <p:cNvPr id="6" name="Text 2"/>
          <p:cNvSpPr txBox="1"/>
          <p:nvPr/>
        </p:nvSpPr>
        <p:spPr>
          <a:xfrm>
            <a:off x="1325880" y="1508760"/>
            <a:ext cx="3703320" cy="109728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Timeline</a:t>
            </a:r>
            <a:endParaRPr lang="en-US" sz="1800" dirty="0"/>
          </a:p>
          <a:p>
            <a:pPr indent="0" marL="0">
              <a:spcAft>
                <a:spcPts val="300"/>
              </a:spcAft>
              <a:buNone/>
            </a:pPr>
            <a:r>
              <a:rPr lang="en-US" sz="1400" dirty="0">
                <a:solidFill>
                  <a:schemeClr val="tx2"/>
                </a:solidFill>
              </a:rPr>
              <a:t>Every status, severity, type and lead change is stamped with who and when. Notes support @mentions.</a:t>
            </a:r>
            <a:endParaRPr lang="en-US" sz="1800" dirty="0"/>
          </a:p>
        </p:txBody>
      </p:sp>
      <p:sp>
        <p:nvSpPr>
          <p:cNvPr id="7" name="icon bg Evidence with chain of custody"/>
          <p:cNvSpPr/>
          <p:nvPr/>
        </p:nvSpPr>
        <p:spPr>
          <a:xfrm>
            <a:off x="548640" y="2743200"/>
            <a:ext cx="566928" cy="566928"/>
          </a:xfrm>
          <a:prstGeom prst="ellipse">
            <a:avLst/>
          </a:prstGeom>
          <a:solidFill>
            <a:schemeClr val="accent3"/>
          </a:solidFill>
          <a:ln/>
        </p:spPr>
      </p:sp>
      <p:pic>
        <p:nvPicPr>
          <p:cNvPr id="8" name="Image 1" descr="preencoded.png">    </p:cNvPr>
          <p:cNvPicPr>
            <a:picLocks noChangeAspect="1"/>
          </p:cNvPicPr>
          <p:nvPr/>
        </p:nvPicPr>
        <p:blipFill>
          <a:blip r:embed="rId2"/>
          <a:stretch>
            <a:fillRect/>
          </a:stretch>
        </p:blipFill>
        <p:spPr>
          <a:xfrm>
            <a:off x="685800" y="2880360"/>
            <a:ext cx="292608" cy="292608"/>
          </a:xfrm>
          <a:prstGeom prst="rect">
            <a:avLst/>
          </a:prstGeom>
        </p:spPr>
      </p:pic>
      <p:sp>
        <p:nvSpPr>
          <p:cNvPr id="9" name="Text 4"/>
          <p:cNvSpPr txBox="1"/>
          <p:nvPr/>
        </p:nvSpPr>
        <p:spPr>
          <a:xfrm>
            <a:off x="1325880" y="2697480"/>
            <a:ext cx="3703320" cy="109728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Evidence with chain of custody</a:t>
            </a:r>
            <a:endParaRPr lang="en-US" sz="1800" dirty="0"/>
          </a:p>
          <a:p>
            <a:pPr indent="0" marL="0">
              <a:spcAft>
                <a:spcPts val="300"/>
              </a:spcAft>
              <a:buNone/>
            </a:pPr>
            <a:r>
              <a:rPr lang="en-US" sz="1400" dirty="0">
                <a:solidFill>
                  <a:schemeClr val="tx2"/>
                </a:solidFill>
              </a:rPr>
              <a:t>Uploads are hashed (SHA-256) and logged automatically: who collected them and when.</a:t>
            </a:r>
            <a:endParaRPr lang="en-US" sz="1800" dirty="0"/>
          </a:p>
        </p:txBody>
      </p:sp>
      <p:sp>
        <p:nvSpPr>
          <p:cNvPr id="10" name="icon bg Corrective actions"/>
          <p:cNvSpPr/>
          <p:nvPr/>
        </p:nvSpPr>
        <p:spPr>
          <a:xfrm>
            <a:off x="548640" y="3931920"/>
            <a:ext cx="566928" cy="566928"/>
          </a:xfrm>
          <a:prstGeom prst="ellipse">
            <a:avLst/>
          </a:prstGeom>
          <a:solidFill>
            <a:schemeClr val="accent5"/>
          </a:solidFill>
          <a:ln/>
        </p:spPr>
      </p:sp>
      <p:pic>
        <p:nvPicPr>
          <p:cNvPr id="11" name="Image 2" descr="preencoded.png">    </p:cNvPr>
          <p:cNvPicPr>
            <a:picLocks noChangeAspect="1"/>
          </p:cNvPicPr>
          <p:nvPr/>
        </p:nvPicPr>
        <p:blipFill>
          <a:blip r:embed="rId3"/>
          <a:stretch>
            <a:fillRect/>
          </a:stretch>
        </p:blipFill>
        <p:spPr>
          <a:xfrm>
            <a:off x="685800" y="4069080"/>
            <a:ext cx="292608" cy="292608"/>
          </a:xfrm>
          <a:prstGeom prst="rect">
            <a:avLst/>
          </a:prstGeom>
        </p:spPr>
      </p:pic>
      <p:sp>
        <p:nvSpPr>
          <p:cNvPr id="12" name="Text 6"/>
          <p:cNvSpPr txBox="1"/>
          <p:nvPr/>
        </p:nvSpPr>
        <p:spPr>
          <a:xfrm>
            <a:off x="1325880" y="3886200"/>
            <a:ext cx="3703320" cy="100584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Corrective actions</a:t>
            </a:r>
            <a:endParaRPr lang="en-US" sz="1800" dirty="0"/>
          </a:p>
          <a:p>
            <a:pPr indent="0" marL="0">
              <a:spcAft>
                <a:spcPts val="300"/>
              </a:spcAft>
              <a:buNone/>
            </a:pPr>
            <a:r>
              <a:rPr lang="en-US" sz="1400" dirty="0">
                <a:solidFill>
                  <a:schemeClr val="tx2"/>
                </a:solidFill>
              </a:rPr>
              <a:t>Owners and due dates for post-incident actions, tracked to done.</a:t>
            </a:r>
            <a:endParaRPr lang="en-US" sz="1800" dirty="0"/>
          </a:p>
        </p:txBody>
      </p:sp>
      <p:sp>
        <p:nvSpPr>
          <p:cNvPr id="13" name="icon bg Notifications log"/>
          <p:cNvSpPr/>
          <p:nvPr/>
        </p:nvSpPr>
        <p:spPr>
          <a:xfrm>
            <a:off x="548640" y="4983480"/>
            <a:ext cx="566928" cy="566928"/>
          </a:xfrm>
          <a:prstGeom prst="ellipse">
            <a:avLst/>
          </a:prstGeom>
          <a:solidFill>
            <a:schemeClr val="accent2"/>
          </a:solidFill>
          <a:ln/>
        </p:spPr>
      </p:sp>
      <p:pic>
        <p:nvPicPr>
          <p:cNvPr id="14" name="Image 3" descr="preencoded.png">    </p:cNvPr>
          <p:cNvPicPr>
            <a:picLocks noChangeAspect="1"/>
          </p:cNvPicPr>
          <p:nvPr/>
        </p:nvPicPr>
        <p:blipFill>
          <a:blip r:embed="rId4"/>
          <a:stretch>
            <a:fillRect/>
          </a:stretch>
        </p:blipFill>
        <p:spPr>
          <a:xfrm>
            <a:off x="685800" y="5120640"/>
            <a:ext cx="292608" cy="292608"/>
          </a:xfrm>
          <a:prstGeom prst="rect">
            <a:avLst/>
          </a:prstGeom>
        </p:spPr>
      </p:pic>
      <p:sp>
        <p:nvSpPr>
          <p:cNvPr id="15" name="Text 8"/>
          <p:cNvSpPr txBox="1"/>
          <p:nvPr/>
        </p:nvSpPr>
        <p:spPr>
          <a:xfrm>
            <a:off x="1325880" y="4937760"/>
            <a:ext cx="3703320" cy="12801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Notifications log</a:t>
            </a:r>
            <a:endParaRPr lang="en-US" sz="1800" dirty="0"/>
          </a:p>
          <a:p>
            <a:pPr indent="0" marL="0">
              <a:spcAft>
                <a:spcPts val="300"/>
              </a:spcAft>
              <a:buNone/>
            </a:pPr>
            <a:r>
              <a:rPr lang="en-US" sz="1400" dirty="0">
                <a:solidFill>
                  <a:schemeClr val="tx2"/>
                </a:solidFill>
              </a:rPr>
              <a:t>Record who was told and when: BNM, the sponsor e-money issuer, PDP Commissioner, MyCERT, PDRM, banks.</a:t>
            </a:r>
            <a:endParaRPr lang="en-US" sz="1800" dirty="0"/>
          </a:p>
        </p:txBody>
      </p:sp>
      <p:sp>
        <p:nvSpPr>
          <p:cNvPr id="16" name="frame s_inc_detail"/>
          <p:cNvSpPr/>
          <p:nvPr/>
        </p:nvSpPr>
        <p:spPr>
          <a:xfrm>
            <a:off x="5276088" y="1527048"/>
            <a:ext cx="6409944" cy="3873170"/>
          </a:xfrm>
          <a:prstGeom prst="roundRect">
            <a:avLst>
              <a:gd name="adj" fmla="val 2361"/>
            </a:avLst>
          </a:prstGeom>
          <a:solidFill>
            <a:schemeClr val="bg1"/>
          </a:solidFill>
          <a:ln w="12700">
            <a:solidFill>
              <a:srgbClr val="D9D4F2"/>
            </a:solidFill>
            <a:prstDash val="solid"/>
          </a:ln>
          <a:effectLst>
            <a:outerShdw sx="100000" sy="100000" kx="0" ky="0" algn="bl" rotWithShape="0" blurRad="101600" dist="25400" dir="5400000">
              <a:srgbClr val="2B2566">
                <a:alpha val="14000"/>
              </a:srgbClr>
            </a:outerShdw>
          </a:effectLst>
        </p:spPr>
      </p:sp>
      <p:pic>
        <p:nvPicPr>
          <p:cNvPr id="17" name="screen s_inc_detail" descr="Incident record: timeline, evidence, actions and notifications (scenario data)">    </p:cNvPr>
          <p:cNvPicPr>
            <a:picLocks noChangeAspect="1"/>
          </p:cNvPicPr>
          <p:nvPr/>
        </p:nvPicPr>
        <p:blipFill>
          <a:blip r:embed="rId5"/>
          <a:stretch>
            <a:fillRect/>
          </a:stretch>
        </p:blipFill>
        <p:spPr>
          <a:xfrm>
            <a:off x="5349240" y="1600200"/>
            <a:ext cx="6263640" cy="3726866"/>
          </a:xfrm>
          <a:prstGeom prst="rect">
            <a:avLst/>
          </a:prstGeom>
        </p:spPr>
      </p:pic>
      <p:sp>
        <p:nvSpPr>
          <p:cNvPr id="18" name="Text 10"/>
          <p:cNvSpPr txBox="1"/>
          <p:nvPr/>
        </p:nvSpPr>
        <p:spPr>
          <a:xfrm>
            <a:off x="5276088" y="5455082"/>
            <a:ext cx="6409944" cy="256032"/>
          </a:xfrm>
          <a:prstGeom prst="rect">
            <a:avLst/>
          </a:prstGeom>
          <a:noFill/>
          <a:ln/>
        </p:spPr>
        <p:txBody>
          <a:bodyPr wrap="square" lIns="0" tIns="0" rIns="0" bIns="0" rtlCol="0" anchor="ctr"/>
          <a:lstStyle/>
          <a:p>
            <a:pPr indent="0" marL="0">
              <a:buNone/>
            </a:pPr>
            <a:r>
              <a:rPr lang="en-US" sz="1100" i="1" dirty="0">
                <a:solidFill>
                  <a:schemeClr val="accent6"/>
                </a:solidFill>
              </a:rPr>
              <a:t>Incident record: timeline, evidence, actions and notifications (scenario data)</a:t>
            </a:r>
            <a:endParaRPr lang="en-US" sz="11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Regulator-ready notices, prepared from the record</a:t>
            </a:r>
            <a:endParaRPr lang="en-US" sz="3200" dirty="0"/>
          </a:p>
        </p:txBody>
      </p:sp>
      <p:sp>
        <p:nvSpPr>
          <p:cNvPr id="4" name="card Form A  Initial notification"/>
          <p:cNvSpPr/>
          <p:nvPr/>
        </p:nvSpPr>
        <p:spPr>
          <a:xfrm>
            <a:off x="548640" y="1508760"/>
            <a:ext cx="2743200" cy="1874520"/>
          </a:xfrm>
          <a:prstGeom prst="roundRect">
            <a:avLst>
              <a:gd name="adj" fmla="val 4878"/>
            </a:avLst>
          </a:prstGeom>
          <a:solidFill>
            <a:schemeClr val="bg2"/>
          </a:solidFill>
          <a:ln/>
          <a:effectLst>
            <a:outerShdw sx="100000" sy="100000" kx="0" ky="0" algn="bl" rotWithShape="0" blurRad="101600" dist="25400" dir="5400000">
              <a:srgbClr val="2B2566">
                <a:alpha val="14000"/>
              </a:srgbClr>
            </a:outerShdw>
          </a:effectLst>
        </p:spPr>
      </p:sp>
      <p:sp>
        <p:nvSpPr>
          <p:cNvPr id="5" name="Text 2"/>
          <p:cNvSpPr txBox="1"/>
          <p:nvPr/>
        </p:nvSpPr>
        <p:spPr>
          <a:xfrm>
            <a:off x="749808" y="1673352"/>
            <a:ext cx="2340864" cy="1600200"/>
          </a:xfrm>
          <a:prstGeom prst="rect">
            <a:avLst/>
          </a:prstGeom>
          <a:noFill/>
          <a:ln/>
        </p:spPr>
        <p:txBody>
          <a:bodyPr wrap="square" lIns="0" tIns="0" rIns="0" bIns="0" rtlCol="0" anchor="t"/>
          <a:lstStyle/>
          <a:p>
            <a:pPr indent="0" marL="0">
              <a:spcAft>
                <a:spcPts val="500"/>
              </a:spcAft>
              <a:buNone/>
            </a:pPr>
            <a:r>
              <a:rPr lang="en-US" sz="1600" b="1" dirty="0">
                <a:solidFill>
                  <a:schemeClr val="accent2"/>
                </a:solidFill>
              </a:rPr>
              <a:t>Form A  Initial notification</a:t>
            </a:r>
            <a:endParaRPr lang="en-US" sz="1600" dirty="0"/>
          </a:p>
          <a:p>
            <a:pPr indent="0" marL="0">
              <a:spcAft>
                <a:spcPts val="500"/>
              </a:spcAft>
              <a:buNone/>
            </a:pPr>
            <a:r>
              <a:rPr lang="en-US" sz="1300" dirty="0">
                <a:solidFill>
                  <a:schemeClr val="tx1"/>
                </a:solidFill>
              </a:rPr>
              <a:t>Within hours of detection. Policy: P1 target 1 hour (2 hour limit), P2 8 hours, P3 48 hours where notifiable.</a:t>
            </a:r>
            <a:endParaRPr lang="en-US" sz="1600" dirty="0"/>
          </a:p>
        </p:txBody>
      </p:sp>
      <p:sp>
        <p:nvSpPr>
          <p:cNvPr id="6" name="card Form B  Full incident report"/>
          <p:cNvSpPr/>
          <p:nvPr/>
        </p:nvSpPr>
        <p:spPr>
          <a:xfrm>
            <a:off x="3429000" y="1508760"/>
            <a:ext cx="2743200" cy="1874520"/>
          </a:xfrm>
          <a:prstGeom prst="roundRect">
            <a:avLst>
              <a:gd name="adj" fmla="val 4878"/>
            </a:avLst>
          </a:prstGeom>
          <a:solidFill>
            <a:schemeClr val="bg2"/>
          </a:solidFill>
          <a:ln/>
          <a:effectLst>
            <a:outerShdw sx="100000" sy="100000" kx="0" ky="0" algn="bl" rotWithShape="0" blurRad="101600" dist="25400" dir="5400000">
              <a:srgbClr val="2B2566">
                <a:alpha val="14000"/>
              </a:srgbClr>
            </a:outerShdw>
          </a:effectLst>
        </p:spPr>
      </p:sp>
      <p:sp>
        <p:nvSpPr>
          <p:cNvPr id="7" name="Text 4"/>
          <p:cNvSpPr txBox="1"/>
          <p:nvPr/>
        </p:nvSpPr>
        <p:spPr>
          <a:xfrm>
            <a:off x="3630168" y="1673352"/>
            <a:ext cx="2340864" cy="1600200"/>
          </a:xfrm>
          <a:prstGeom prst="rect">
            <a:avLst/>
          </a:prstGeom>
          <a:noFill/>
          <a:ln/>
        </p:spPr>
        <p:txBody>
          <a:bodyPr wrap="square" lIns="0" tIns="0" rIns="0" bIns="0" rtlCol="0" anchor="t"/>
          <a:lstStyle/>
          <a:p>
            <a:pPr indent="0" marL="0">
              <a:spcAft>
                <a:spcPts val="500"/>
              </a:spcAft>
              <a:buNone/>
            </a:pPr>
            <a:r>
              <a:rPr lang="en-US" sz="1600" b="1" dirty="0">
                <a:solidFill>
                  <a:schemeClr val="accent1"/>
                </a:solidFill>
              </a:rPr>
              <a:t>Form B  Full incident report</a:t>
            </a:r>
            <a:endParaRPr lang="en-US" sz="1600" dirty="0"/>
          </a:p>
          <a:p>
            <a:pPr indent="0" marL="0">
              <a:spcAft>
                <a:spcPts val="500"/>
              </a:spcAft>
              <a:buNone/>
            </a:pPr>
            <a:r>
              <a:rPr lang="en-US" sz="1300" dirty="0">
                <a:solidFill>
                  <a:schemeClr val="tx1"/>
                </a:solidFill>
              </a:rPr>
              <a:t>To every party that received Form A. Policy: P1 within 48 hours, P2 within 96 hours.</a:t>
            </a:r>
            <a:endParaRPr lang="en-US" sz="1600" dirty="0"/>
          </a:p>
        </p:txBody>
      </p:sp>
      <p:sp>
        <p:nvSpPr>
          <p:cNvPr id="8" name="card Form C  Post-incident review"/>
          <p:cNvSpPr/>
          <p:nvPr/>
        </p:nvSpPr>
        <p:spPr>
          <a:xfrm>
            <a:off x="548640" y="3520440"/>
            <a:ext cx="2743200" cy="1874520"/>
          </a:xfrm>
          <a:prstGeom prst="roundRect">
            <a:avLst>
              <a:gd name="adj" fmla="val 4878"/>
            </a:avLst>
          </a:prstGeom>
          <a:solidFill>
            <a:schemeClr val="bg2"/>
          </a:solidFill>
          <a:ln/>
          <a:effectLst>
            <a:outerShdw sx="100000" sy="100000" kx="0" ky="0" algn="bl" rotWithShape="0" blurRad="101600" dist="25400" dir="5400000">
              <a:srgbClr val="2B2566">
                <a:alpha val="14000"/>
              </a:srgbClr>
            </a:outerShdw>
          </a:effectLst>
        </p:spPr>
      </p:sp>
      <p:sp>
        <p:nvSpPr>
          <p:cNvPr id="9" name="Text 6"/>
          <p:cNvSpPr txBox="1"/>
          <p:nvPr/>
        </p:nvSpPr>
        <p:spPr>
          <a:xfrm>
            <a:off x="749808" y="3685032"/>
            <a:ext cx="2340864" cy="1600200"/>
          </a:xfrm>
          <a:prstGeom prst="rect">
            <a:avLst/>
          </a:prstGeom>
          <a:noFill/>
          <a:ln/>
        </p:spPr>
        <p:txBody>
          <a:bodyPr wrap="square" lIns="0" tIns="0" rIns="0" bIns="0" rtlCol="0" anchor="t"/>
          <a:lstStyle/>
          <a:p>
            <a:pPr indent="0" marL="0">
              <a:spcAft>
                <a:spcPts val="500"/>
              </a:spcAft>
              <a:buNone/>
            </a:pPr>
            <a:r>
              <a:rPr lang="en-US" sz="1600" b="1" dirty="0">
                <a:solidFill>
                  <a:schemeClr val="accent3"/>
                </a:solidFill>
              </a:rPr>
              <a:t>Form C  Post-incident review</a:t>
            </a:r>
            <a:endParaRPr lang="en-US" sz="1600" dirty="0"/>
          </a:p>
          <a:p>
            <a:pPr indent="0" marL="0">
              <a:spcAft>
                <a:spcPts val="500"/>
              </a:spcAft>
              <a:buNone/>
            </a:pPr>
            <a:r>
              <a:rPr lang="en-US" sz="1300" dirty="0">
                <a:solidFill>
                  <a:schemeClr val="tx1"/>
                </a:solidFill>
              </a:rPr>
              <a:t>Root cause, lessons learned, corrective actions. Review within 5 business days, report within 10.</a:t>
            </a:r>
            <a:endParaRPr lang="en-US" sz="1600" dirty="0"/>
          </a:p>
        </p:txBody>
      </p:sp>
      <p:sp>
        <p:nvSpPr>
          <p:cNvPr id="10" name="card Form D  Status or closure notice"/>
          <p:cNvSpPr/>
          <p:nvPr/>
        </p:nvSpPr>
        <p:spPr>
          <a:xfrm>
            <a:off x="3429000" y="3520440"/>
            <a:ext cx="2743200" cy="1874520"/>
          </a:xfrm>
          <a:prstGeom prst="roundRect">
            <a:avLst>
              <a:gd name="adj" fmla="val 4878"/>
            </a:avLst>
          </a:prstGeom>
          <a:solidFill>
            <a:schemeClr val="bg2"/>
          </a:solidFill>
          <a:ln/>
          <a:effectLst>
            <a:outerShdw sx="100000" sy="100000" kx="0" ky="0" algn="bl" rotWithShape="0" blurRad="101600" dist="25400" dir="5400000">
              <a:srgbClr val="2B2566">
                <a:alpha val="14000"/>
              </a:srgbClr>
            </a:outerShdw>
          </a:effectLst>
        </p:spPr>
      </p:sp>
      <p:sp>
        <p:nvSpPr>
          <p:cNvPr id="11" name="Text 8"/>
          <p:cNvSpPr txBox="1"/>
          <p:nvPr/>
        </p:nvSpPr>
        <p:spPr>
          <a:xfrm>
            <a:off x="3630168" y="3685032"/>
            <a:ext cx="2340864" cy="1600200"/>
          </a:xfrm>
          <a:prstGeom prst="rect">
            <a:avLst/>
          </a:prstGeom>
          <a:noFill/>
          <a:ln/>
        </p:spPr>
        <p:txBody>
          <a:bodyPr wrap="square" lIns="0" tIns="0" rIns="0" bIns="0" rtlCol="0" anchor="t"/>
          <a:lstStyle/>
          <a:p>
            <a:pPr indent="0" marL="0">
              <a:spcAft>
                <a:spcPts val="500"/>
              </a:spcAft>
              <a:buNone/>
            </a:pPr>
            <a:r>
              <a:rPr lang="en-US" sz="1600" b="1" dirty="0">
                <a:solidFill>
                  <a:schemeClr val="accent5"/>
                </a:solidFill>
              </a:rPr>
              <a:t>Form D  Status or closure notice</a:t>
            </a:r>
            <a:endParaRPr lang="en-US" sz="1600" dirty="0"/>
          </a:p>
          <a:p>
            <a:pPr indent="0" marL="0">
              <a:spcAft>
                <a:spcPts val="500"/>
              </a:spcAft>
              <a:buNone/>
            </a:pPr>
            <a:r>
              <a:rPr lang="en-US" sz="1300" dirty="0">
                <a:solidFill>
                  <a:schemeClr val="tx1"/>
                </a:solidFill>
              </a:rPr>
              <a:t>Policy: P1 every 4 hours until contained, P2 every 8 hours, then daily. Final notice at closure.</a:t>
            </a:r>
            <a:endParaRPr lang="en-US" sz="1600" dirty="0"/>
          </a:p>
        </p:txBody>
      </p:sp>
      <p:sp>
        <p:nvSpPr>
          <p:cNvPr id="12" name="Text 9"/>
          <p:cNvSpPr txBox="1"/>
          <p:nvPr/>
        </p:nvSpPr>
        <p:spPr>
          <a:xfrm>
            <a:off x="548640" y="5623560"/>
            <a:ext cx="5669280" cy="731520"/>
          </a:xfrm>
          <a:prstGeom prst="rect">
            <a:avLst/>
          </a:prstGeom>
          <a:noFill/>
          <a:ln/>
        </p:spPr>
        <p:txBody>
          <a:bodyPr wrap="square" lIns="0" tIns="0" rIns="0" bIns="0" rtlCol="0" anchor="t"/>
          <a:lstStyle/>
          <a:p>
            <a:pPr indent="0" marL="0">
              <a:buNone/>
            </a:pPr>
            <a:r>
              <a:rPr lang="en-US" sz="1200" i="1" dirty="0">
                <a:solidFill>
                  <a:schemeClr val="tx2"/>
                </a:solidFill>
              </a:rPr>
              <a:t>Halo fills in what is on the record and prompts for the rest; the .docx can be saved to the incident’s evidence log. Your people send it and log that it was sent. Timelines shown are Vircle’s policy values.</a:t>
            </a:r>
            <a:endParaRPr lang="en-US" sz="1200" dirty="0"/>
          </a:p>
        </p:txBody>
      </p:sp>
      <p:sp>
        <p:nvSpPr>
          <p:cNvPr id="13" name="frame s_inc_docs"/>
          <p:cNvSpPr/>
          <p:nvPr/>
        </p:nvSpPr>
        <p:spPr>
          <a:xfrm>
            <a:off x="6419088" y="1481328"/>
            <a:ext cx="5266944" cy="3464613"/>
          </a:xfrm>
          <a:prstGeom prst="roundRect">
            <a:avLst>
              <a:gd name="adj" fmla="val 2639"/>
            </a:avLst>
          </a:prstGeom>
          <a:solidFill>
            <a:schemeClr val="bg1"/>
          </a:solidFill>
          <a:ln w="12700">
            <a:solidFill>
              <a:srgbClr val="D9D4F2"/>
            </a:solidFill>
            <a:prstDash val="solid"/>
          </a:ln>
          <a:effectLst>
            <a:outerShdw sx="100000" sy="100000" kx="0" ky="0" algn="bl" rotWithShape="0" blurRad="101600" dist="25400" dir="5400000">
              <a:srgbClr val="2B2566">
                <a:alpha val="14000"/>
              </a:srgbClr>
            </a:outerShdw>
          </a:effectLst>
        </p:spPr>
      </p:sp>
      <p:pic>
        <p:nvPicPr>
          <p:cNvPr id="14" name="screen s_inc_docs" descr="Generate a document from the incident record">    </p:cNvPr>
          <p:cNvPicPr>
            <a:picLocks noChangeAspect="1"/>
          </p:cNvPicPr>
          <p:nvPr/>
        </p:nvPicPr>
        <p:blipFill>
          <a:blip r:embed="rId1"/>
          <a:stretch>
            <a:fillRect/>
          </a:stretch>
        </p:blipFill>
        <p:spPr>
          <a:xfrm>
            <a:off x="6492240" y="1554480"/>
            <a:ext cx="5120640" cy="3318309"/>
          </a:xfrm>
          <a:prstGeom prst="rect">
            <a:avLst/>
          </a:prstGeom>
        </p:spPr>
      </p:pic>
      <p:sp>
        <p:nvSpPr>
          <p:cNvPr id="15" name="Text 11"/>
          <p:cNvSpPr txBox="1"/>
          <p:nvPr/>
        </p:nvSpPr>
        <p:spPr>
          <a:xfrm>
            <a:off x="6419088" y="5000805"/>
            <a:ext cx="5266944" cy="256032"/>
          </a:xfrm>
          <a:prstGeom prst="rect">
            <a:avLst/>
          </a:prstGeom>
          <a:noFill/>
          <a:ln/>
        </p:spPr>
        <p:txBody>
          <a:bodyPr wrap="square" lIns="0" tIns="0" rIns="0" bIns="0" rtlCol="0" anchor="ctr"/>
          <a:lstStyle/>
          <a:p>
            <a:pPr indent="0" marL="0">
              <a:buNone/>
            </a:pPr>
            <a:r>
              <a:rPr lang="en-US" sz="1100" i="1" dirty="0">
                <a:solidFill>
                  <a:schemeClr val="accent6"/>
                </a:solidFill>
              </a:rPr>
              <a:t>Generate a document from the incident record</a:t>
            </a:r>
            <a:endParaRPr lang="en-US" sz="11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22960" y="2377440"/>
            <a:ext cx="9601200" cy="1097280"/>
          </a:xfrm>
          <a:prstGeom prst="rect">
            <a:avLst/>
          </a:prstGeom>
          <a:noFill/>
          <a:ln/>
        </p:spPr>
        <p:txBody>
          <a:bodyPr wrap="square" lIns="0" tIns="0" rIns="0" bIns="0" rtlCol="0" anchor="t"/>
          <a:lstStyle/>
          <a:p>
            <a:pPr algn="l" indent="0" marL="0">
              <a:buNone/>
            </a:pPr>
            <a:r>
              <a:rPr lang="en-US" sz="4800" b="1" dirty="0">
                <a:solidFill>
                  <a:schemeClr val="bg1"/>
                </a:solidFill>
                <a:latin typeface="+mj-lt" pitchFamily="34" charset="0"/>
                <a:ea typeface="+mj-lt" pitchFamily="34" charset="-122"/>
                <a:cs typeface="+mj-lt" pitchFamily="34" charset="-120"/>
              </a:rPr>
              <a:t>Compliance requests</a:t>
            </a:r>
            <a:endParaRPr lang="en-US" sz="4800" dirty="0"/>
          </a:p>
        </p:txBody>
      </p:sp>
      <p:sp>
        <p:nvSpPr>
          <p:cNvPr id="3" name="Text 1"/>
          <p:cNvSpPr/>
          <p:nvPr/>
        </p:nvSpPr>
        <p:spPr>
          <a:xfrm>
            <a:off x="822960" y="3611880"/>
            <a:ext cx="8778240" cy="1280160"/>
          </a:xfrm>
          <a:prstGeom prst="rect">
            <a:avLst/>
          </a:prstGeom>
          <a:noFill/>
          <a:ln/>
        </p:spPr>
        <p:txBody>
          <a:bodyPr wrap="square" lIns="0" tIns="0" rIns="0" bIns="0" rtlCol="0" anchor="t"/>
          <a:lstStyle/>
          <a:p>
            <a:pPr algn="l" indent="0" marL="0">
              <a:buNone/>
            </a:pPr>
            <a:r>
              <a:rPr lang="en-US" sz="2200" dirty="0">
                <a:solidFill>
                  <a:schemeClr val="bg2"/>
                </a:solidFill>
              </a:rPr>
              <a:t>Customer instructions Vircle must act on, and be able to prove it acted on, with the reasons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Maker-checker built into the database, not just the screen</a:t>
            </a:r>
            <a:endParaRPr lang="en-US" sz="3200" dirty="0"/>
          </a:p>
        </p:txBody>
      </p:sp>
      <p:sp>
        <p:nvSpPr>
          <p:cNvPr id="4" name="Shape 1"/>
          <p:cNvSpPr/>
          <p:nvPr/>
        </p:nvSpPr>
        <p:spPr>
          <a:xfrm>
            <a:off x="548640" y="1463040"/>
            <a:ext cx="640080" cy="640080"/>
          </a:xfrm>
          <a:prstGeom prst="roundRect">
            <a:avLst>
              <a:gd name="adj" fmla="val 11429"/>
            </a:avLst>
          </a:prstGeom>
          <a:solidFill>
            <a:schemeClr val="accent1"/>
          </a:solidFill>
          <a:ln/>
        </p:spPr>
      </p:sp>
      <p:sp>
        <p:nvSpPr>
          <p:cNvPr id="5" name="Text 2"/>
          <p:cNvSpPr txBox="1"/>
          <p:nvPr/>
        </p:nvSpPr>
        <p:spPr>
          <a:xfrm>
            <a:off x="548640" y="14630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Shape 3"/>
          <p:cNvSpPr/>
          <p:nvPr/>
        </p:nvSpPr>
        <p:spPr>
          <a:xfrm>
            <a:off x="1243584" y="1463040"/>
            <a:ext cx="640080" cy="640080"/>
          </a:xfrm>
          <a:prstGeom prst="roundRect">
            <a:avLst>
              <a:gd name="adj" fmla="val 11429"/>
            </a:avLst>
          </a:prstGeom>
          <a:solidFill>
            <a:schemeClr val="accent1"/>
          </a:solidFill>
          <a:ln/>
        </p:spPr>
      </p:sp>
      <p:sp>
        <p:nvSpPr>
          <p:cNvPr id="7" name="Text 4"/>
          <p:cNvSpPr txBox="1"/>
          <p:nvPr/>
        </p:nvSpPr>
        <p:spPr>
          <a:xfrm>
            <a:off x="1243584" y="14630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Shape 5"/>
          <p:cNvSpPr/>
          <p:nvPr/>
        </p:nvSpPr>
        <p:spPr>
          <a:xfrm>
            <a:off x="1938528" y="1463040"/>
            <a:ext cx="640080" cy="640080"/>
          </a:xfrm>
          <a:prstGeom prst="roundRect">
            <a:avLst>
              <a:gd name="adj" fmla="val 11429"/>
            </a:avLst>
          </a:prstGeom>
          <a:solidFill>
            <a:schemeClr val="accent1"/>
          </a:solidFill>
          <a:ln/>
        </p:spPr>
      </p:sp>
      <p:sp>
        <p:nvSpPr>
          <p:cNvPr id="9" name="Text 6"/>
          <p:cNvSpPr txBox="1"/>
          <p:nvPr/>
        </p:nvSpPr>
        <p:spPr>
          <a:xfrm>
            <a:off x="1938528" y="14630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0" name="Shape 7"/>
          <p:cNvSpPr/>
          <p:nvPr/>
        </p:nvSpPr>
        <p:spPr>
          <a:xfrm>
            <a:off x="2633472" y="1463040"/>
            <a:ext cx="640080" cy="640080"/>
          </a:xfrm>
          <a:prstGeom prst="roundRect">
            <a:avLst>
              <a:gd name="adj" fmla="val 11429"/>
            </a:avLst>
          </a:prstGeom>
          <a:solidFill>
            <a:schemeClr val="accent2"/>
          </a:solidFill>
          <a:ln/>
        </p:spPr>
      </p:sp>
      <p:sp>
        <p:nvSpPr>
          <p:cNvPr id="11" name="Text 8"/>
          <p:cNvSpPr txBox="1"/>
          <p:nvPr/>
        </p:nvSpPr>
        <p:spPr>
          <a:xfrm>
            <a:off x="2633472" y="14630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2" name="Shape 9"/>
          <p:cNvSpPr/>
          <p:nvPr/>
        </p:nvSpPr>
        <p:spPr>
          <a:xfrm>
            <a:off x="3328416" y="1463040"/>
            <a:ext cx="640080" cy="640080"/>
          </a:xfrm>
          <a:prstGeom prst="roundRect">
            <a:avLst>
              <a:gd name="adj" fmla="val 11429"/>
            </a:avLst>
          </a:prstGeom>
          <a:solidFill>
            <a:schemeClr val="accent1"/>
          </a:solidFill>
          <a:ln/>
        </p:spPr>
      </p:sp>
      <p:sp>
        <p:nvSpPr>
          <p:cNvPr id="13" name="Text 10"/>
          <p:cNvSpPr txBox="1"/>
          <p:nvPr/>
        </p:nvSpPr>
        <p:spPr>
          <a:xfrm>
            <a:off x="3328416" y="14630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4" name="Shape 11"/>
          <p:cNvSpPr/>
          <p:nvPr/>
        </p:nvSpPr>
        <p:spPr>
          <a:xfrm>
            <a:off x="4023360" y="1463040"/>
            <a:ext cx="640080" cy="640080"/>
          </a:xfrm>
          <a:prstGeom prst="roundRect">
            <a:avLst>
              <a:gd name="adj" fmla="val 11429"/>
            </a:avLst>
          </a:prstGeom>
          <a:solidFill>
            <a:schemeClr val="accent1"/>
          </a:solidFill>
          <a:ln/>
        </p:spPr>
      </p:sp>
      <p:sp>
        <p:nvSpPr>
          <p:cNvPr id="15" name="Text 12"/>
          <p:cNvSpPr txBox="1"/>
          <p:nvPr/>
        </p:nvSpPr>
        <p:spPr>
          <a:xfrm>
            <a:off x="4023360" y="14630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16" name="Text 13"/>
          <p:cNvSpPr txBox="1"/>
          <p:nvPr/>
        </p:nvSpPr>
        <p:spPr>
          <a:xfrm>
            <a:off x="548640" y="2176272"/>
            <a:ext cx="4206240" cy="457200"/>
          </a:xfrm>
          <a:prstGeom prst="rect">
            <a:avLst/>
          </a:prstGeom>
          <a:noFill/>
          <a:ln/>
        </p:spPr>
        <p:txBody>
          <a:bodyPr wrap="square" lIns="0" tIns="0" rIns="0" bIns="0" rtlCol="0" anchor="t"/>
          <a:lstStyle/>
          <a:p>
            <a:pPr indent="0" marL="0">
              <a:buNone/>
            </a:pPr>
            <a:r>
              <a:rPr lang="en-US" sz="1200" i="1" dirty="0">
                <a:solidFill>
                  <a:schemeClr val="accent6"/>
                </a:solidFill>
              </a:rPr>
              <a:t>Received, identity check, officer review, sign-off, execution, closed</a:t>
            </a:r>
            <a:endParaRPr lang="en-US" sz="1200" dirty="0"/>
          </a:p>
        </p:txBody>
      </p:sp>
      <p:sp>
        <p:nvSpPr>
          <p:cNvPr id="17" name="Text 14"/>
          <p:cNvSpPr txBox="1"/>
          <p:nvPr/>
        </p:nvSpPr>
        <p:spPr>
          <a:xfrm>
            <a:off x="548640" y="2788920"/>
            <a:ext cx="4297680" cy="347472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chemeClr val="tx1"/>
                </a:solidFill>
              </a:rPr>
              <a:t>The person who recorded the identity check can never sign the case off, whatever their role. The database refuses it.</a:t>
            </a:r>
            <a:endParaRPr lang="en-US" sz="1500" dirty="0"/>
          </a:p>
          <a:p>
            <a:pPr marL="228600" indent="-228600">
              <a:spcAft>
                <a:spcPts val="900"/>
              </a:spcAft>
              <a:buSzPct val="100000"/>
              <a:buChar char="•"/>
            </a:pPr>
            <a:r>
              <a:rPr lang="en-US" sz="1500" dirty="0">
                <a:solidFill>
                  <a:schemeClr val="tx1"/>
                </a:solidFill>
              </a:rPr>
              <a:t>Separate permissions to review, approve, reveal protected data, execute and administer. Only Owner and Admin hold them by default.</a:t>
            </a:r>
            <a:endParaRPr lang="en-US" sz="1500" dirty="0"/>
          </a:p>
          <a:p>
            <a:pPr marL="228600" indent="-228600">
              <a:spcAft>
                <a:spcPts val="900"/>
              </a:spcAft>
              <a:buSzPct val="100000"/>
              <a:buChar char="•"/>
            </a:pPr>
            <a:r>
              <a:rPr lang="en-US" sz="1500" dirty="0">
                <a:solidFill>
                  <a:schemeClr val="tx1"/>
                </a:solidFill>
              </a:rPr>
              <a:t>A rejection needs a reason category; a closure with dues outstanding needs a logged override reason.</a:t>
            </a:r>
            <a:endParaRPr lang="en-US" sz="1500" dirty="0"/>
          </a:p>
          <a:p>
            <a:pPr marL="228600" indent="-228600">
              <a:spcAft>
                <a:spcPts val="900"/>
              </a:spcAft>
              <a:buSzPct val="100000"/>
              <a:buChar char="•"/>
            </a:pPr>
            <a:r>
              <a:rPr lang="en-US" sz="1500" dirty="0">
                <a:solidFill>
                  <a:schemeClr val="tx1"/>
                </a:solidFill>
              </a:rPr>
              <a:t>Every move is a recorded event: who, when and the note they wrote.</a:t>
            </a:r>
            <a:endParaRPr lang="en-US" sz="1500" dirty="0"/>
          </a:p>
        </p:txBody>
      </p:sp>
      <p:sp>
        <p:nvSpPr>
          <p:cNvPr id="18" name="frame s_cmp_case"/>
          <p:cNvSpPr/>
          <p:nvPr/>
        </p:nvSpPr>
        <p:spPr>
          <a:xfrm>
            <a:off x="5468836" y="1435608"/>
            <a:ext cx="6217196" cy="4672584"/>
          </a:xfrm>
          <a:prstGeom prst="roundRect">
            <a:avLst>
              <a:gd name="adj" fmla="val 1957"/>
            </a:avLst>
          </a:prstGeom>
          <a:solidFill>
            <a:schemeClr val="bg1"/>
          </a:solidFill>
          <a:ln w="12700">
            <a:solidFill>
              <a:srgbClr val="D9D4F2"/>
            </a:solidFill>
            <a:prstDash val="solid"/>
          </a:ln>
          <a:effectLst>
            <a:outerShdw sx="100000" sy="100000" kx="0" ky="0" algn="bl" rotWithShape="0" blurRad="101600" dist="25400" dir="5400000">
              <a:srgbClr val="2B2566">
                <a:alpha val="14000"/>
              </a:srgbClr>
            </a:outerShdw>
          </a:effectLst>
        </p:spPr>
      </p:sp>
      <p:pic>
        <p:nvPicPr>
          <p:cNvPr id="19" name="screen s_cmp_case" descr="A compliance case: identity check, review, sign-off (test request, details masked)">    </p:cNvPr>
          <p:cNvPicPr>
            <a:picLocks noChangeAspect="1"/>
          </p:cNvPicPr>
          <p:nvPr/>
        </p:nvPicPr>
        <p:blipFill>
          <a:blip r:embed="rId1"/>
          <a:stretch>
            <a:fillRect/>
          </a:stretch>
        </p:blipFill>
        <p:spPr>
          <a:xfrm>
            <a:off x="5541988" y="1508760"/>
            <a:ext cx="6070892" cy="4526280"/>
          </a:xfrm>
          <a:prstGeom prst="rect">
            <a:avLst/>
          </a:prstGeom>
        </p:spPr>
      </p:pic>
      <p:sp>
        <p:nvSpPr>
          <p:cNvPr id="20" name="Text 16"/>
          <p:cNvSpPr txBox="1"/>
          <p:nvPr/>
        </p:nvSpPr>
        <p:spPr>
          <a:xfrm>
            <a:off x="5468836" y="6163056"/>
            <a:ext cx="6217196" cy="256032"/>
          </a:xfrm>
          <a:prstGeom prst="rect">
            <a:avLst/>
          </a:prstGeom>
          <a:noFill/>
          <a:ln/>
        </p:spPr>
        <p:txBody>
          <a:bodyPr wrap="square" lIns="0" tIns="0" rIns="0" bIns="0" rtlCol="0" anchor="ctr"/>
          <a:lstStyle/>
          <a:p>
            <a:pPr indent="0" marL="0">
              <a:buNone/>
            </a:pPr>
            <a:r>
              <a:rPr lang="en-US" sz="1100" i="1" dirty="0">
                <a:solidFill>
                  <a:schemeClr val="accent6"/>
                </a:solidFill>
              </a:rPr>
              <a:t>A compliance case: identity check, review, sign-off (test request, details masked)</a:t>
            </a:r>
            <a:endParaRPr lang="en-US" sz="11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A queue that shows what is due, and what is late</a:t>
            </a:r>
            <a:endParaRPr lang="en-US" sz="3200" dirty="0"/>
          </a:p>
        </p:txBody>
      </p:sp>
      <p:sp>
        <p:nvSpPr>
          <p:cNvPr id="4" name="Text 1"/>
          <p:cNvSpPr txBox="1"/>
          <p:nvPr/>
        </p:nvSpPr>
        <p:spPr>
          <a:xfrm>
            <a:off x="548640" y="1554480"/>
            <a:ext cx="3474720" cy="4572000"/>
          </a:xfrm>
          <a:prstGeom prst="rect">
            <a:avLst/>
          </a:prstGeom>
          <a:noFill/>
          <a:ln/>
        </p:spPr>
        <p:txBody>
          <a:bodyPr wrap="square" lIns="0" tIns="0" rIns="0" bIns="0" rtlCol="0" anchor="t"/>
          <a:lstStyle/>
          <a:p>
            <a:pPr marL="228600" indent="-228600">
              <a:spcAft>
                <a:spcPts val="900"/>
              </a:spcAft>
              <a:buSzPct val="100000"/>
              <a:buChar char="•"/>
            </a:pPr>
            <a:r>
              <a:rPr lang="en-US" sz="1400" dirty="0">
                <a:solidFill>
                  <a:schemeClr val="tx1"/>
                </a:solidFill>
              </a:rPr>
              <a:t>A count for every stage, and filters by type, status, clock, assignee and date.</a:t>
            </a:r>
            <a:endParaRPr lang="en-US" sz="1400" dirty="0"/>
          </a:p>
          <a:p>
            <a:pPr marL="228600" indent="-228600">
              <a:spcAft>
                <a:spcPts val="900"/>
              </a:spcAft>
              <a:buSzPct val="100000"/>
              <a:buChar char="•"/>
            </a:pPr>
            <a:r>
              <a:rPr lang="en-US" sz="1400" dirty="0">
                <a:solidFill>
                  <a:schemeClr val="tx1"/>
                </a:solidFill>
              </a:rPr>
              <a:t>A clock on every request: on track, past target, near stop, breached or paused, shown as a word and an icon, never colour alone.</a:t>
            </a:r>
            <a:endParaRPr lang="en-US" sz="1400" dirty="0"/>
          </a:p>
          <a:p>
            <a:pPr marL="228600" indent="-228600">
              <a:spcAft>
                <a:spcPts val="900"/>
              </a:spcAft>
              <a:buSzPct val="100000"/>
              <a:buChar char="•"/>
            </a:pPr>
            <a:r>
              <a:rPr lang="en-US" sz="1400" dirty="0">
                <a:solidFill>
                  <a:schemeClr val="tx1"/>
                </a:solidFill>
              </a:rPr>
              <a:t>An hourly job alerts approvers and reviewers in-app and by e-mail as a case nears its hard stop.</a:t>
            </a:r>
            <a:endParaRPr lang="en-US" sz="1400" dirty="0"/>
          </a:p>
          <a:p>
            <a:pPr marL="228600" indent="-228600">
              <a:spcAft>
                <a:spcPts val="900"/>
              </a:spcAft>
              <a:buSzPct val="100000"/>
              <a:buChar char="•"/>
            </a:pPr>
            <a:r>
              <a:rPr lang="en-US" sz="1400" dirty="0">
                <a:solidFill>
                  <a:schemeClr val="tx1"/>
                </a:solidFill>
              </a:rPr>
              <a:t>A person without the compliance permission cannot see cases at all, even through the database.</a:t>
            </a:r>
            <a:endParaRPr lang="en-US" sz="1400" dirty="0"/>
          </a:p>
        </p:txBody>
      </p:sp>
      <p:sp>
        <p:nvSpPr>
          <p:cNvPr id="5" name="frame s_cmp_list"/>
          <p:cNvSpPr/>
          <p:nvPr/>
        </p:nvSpPr>
        <p:spPr>
          <a:xfrm>
            <a:off x="4270248" y="1938528"/>
            <a:ext cx="7415784" cy="2994618"/>
          </a:xfrm>
          <a:prstGeom prst="roundRect">
            <a:avLst>
              <a:gd name="adj" fmla="val 3053"/>
            </a:avLst>
          </a:prstGeom>
          <a:solidFill>
            <a:schemeClr val="bg1"/>
          </a:solidFill>
          <a:ln w="12700">
            <a:solidFill>
              <a:srgbClr val="D9D4F2"/>
            </a:solidFill>
            <a:prstDash val="solid"/>
          </a:ln>
          <a:effectLst>
            <a:outerShdw sx="100000" sy="100000" kx="0" ky="0" algn="bl" rotWithShape="0" blurRad="101600" dist="25400" dir="5400000">
              <a:srgbClr val="2B2566">
                <a:alpha val="14000"/>
              </a:srgbClr>
            </a:outerShdw>
          </a:effectLst>
        </p:spPr>
      </p:sp>
      <p:pic>
        <p:nvPicPr>
          <p:cNvPr id="6" name="screen s_cmp_list" descr="Compliance queue (test request, customer details masked)">    </p:cNvPr>
          <p:cNvPicPr>
            <a:picLocks noChangeAspect="1"/>
          </p:cNvPicPr>
          <p:nvPr/>
        </p:nvPicPr>
        <p:blipFill>
          <a:blip r:embed="rId1"/>
          <a:stretch>
            <a:fillRect/>
          </a:stretch>
        </p:blipFill>
        <p:spPr>
          <a:xfrm>
            <a:off x="4343400" y="2011680"/>
            <a:ext cx="7269480" cy="2848314"/>
          </a:xfrm>
          <a:prstGeom prst="rect">
            <a:avLst/>
          </a:prstGeom>
        </p:spPr>
      </p:pic>
      <p:sp>
        <p:nvSpPr>
          <p:cNvPr id="7" name="Text 3"/>
          <p:cNvSpPr txBox="1"/>
          <p:nvPr/>
        </p:nvSpPr>
        <p:spPr>
          <a:xfrm>
            <a:off x="4270248" y="4988010"/>
            <a:ext cx="7415784" cy="256032"/>
          </a:xfrm>
          <a:prstGeom prst="rect">
            <a:avLst/>
          </a:prstGeom>
          <a:noFill/>
          <a:ln/>
        </p:spPr>
        <p:txBody>
          <a:bodyPr wrap="square" lIns="0" tIns="0" rIns="0" bIns="0" rtlCol="0" anchor="ctr"/>
          <a:lstStyle/>
          <a:p>
            <a:pPr indent="0" marL="0">
              <a:buNone/>
            </a:pPr>
            <a:r>
              <a:rPr lang="en-US" sz="1100" i="1" dirty="0">
                <a:solidFill>
                  <a:schemeClr val="accent6"/>
                </a:solidFill>
              </a:rPr>
              <a:t>Compliance queue (test request, customer details masked)</a:t>
            </a:r>
            <a:endParaRPr lang="en-US" sz="11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The reporting an examiner can ask for</a:t>
            </a:r>
            <a:endParaRPr lang="en-US" sz="3200" dirty="0"/>
          </a:p>
        </p:txBody>
      </p:sp>
      <p:sp>
        <p:nvSpPr>
          <p:cNvPr id="4" name="Text 1"/>
          <p:cNvSpPr txBox="1"/>
          <p:nvPr/>
        </p:nvSpPr>
        <p:spPr>
          <a:xfrm>
            <a:off x="548640" y="1554480"/>
            <a:ext cx="4754880" cy="457200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chemeClr val="tx1"/>
                </a:solidFill>
              </a:rPr>
              <a:t>Requests by type and status, days to decision and to completion, sign-offs by person, rejections by reason and the age of open requests.</a:t>
            </a:r>
            <a:endParaRPr lang="en-US" sz="1500" dirty="0"/>
          </a:p>
          <a:p>
            <a:pPr marL="228600" indent="-228600">
              <a:spcAft>
                <a:spcPts val="900"/>
              </a:spcAft>
              <a:buSzPct val="100000"/>
              <a:buChar char="•"/>
            </a:pPr>
            <a:r>
              <a:rPr lang="en-US" sz="1500" dirty="0">
                <a:solidFill>
                  <a:schemeClr val="tx1"/>
                </a:solidFill>
              </a:rPr>
              <a:t>Against the target and the deadline: completed on time, completed late within the hard stop, completed after it, still open past it.</a:t>
            </a:r>
            <a:endParaRPr lang="en-US" sz="1500" dirty="0"/>
          </a:p>
          <a:p>
            <a:pPr marL="228600" indent="-228600">
              <a:spcAft>
                <a:spcPts val="900"/>
              </a:spcAft>
              <a:buSzPct val="100000"/>
              <a:buChar char="•"/>
            </a:pPr>
            <a:r>
              <a:rPr lang="en-US" sz="1500" dirty="0">
                <a:solidFill>
                  <a:schemeClr val="tx1"/>
                </a:solidFill>
              </a:rPr>
              <a:t>Figures are numbers only. A CSV export of up to 5,000 requests is recorded with who made it and the filters.</a:t>
            </a:r>
            <a:endParaRPr lang="en-US" sz="1500" dirty="0"/>
          </a:p>
          <a:p>
            <a:pPr marL="228600" indent="-228600">
              <a:spcAft>
                <a:spcPts val="900"/>
              </a:spcAft>
              <a:buSzPct val="100000"/>
              <a:buChar char="•"/>
            </a:pPr>
            <a:r>
              <a:rPr lang="en-US" sz="1500" dirty="0">
                <a:solidFill>
                  <a:schemeClr val="tx1"/>
                </a:solidFill>
              </a:rPr>
              <a:t>Requests are kept for seven years.</a:t>
            </a:r>
            <a:endParaRPr lang="en-US" sz="1500" dirty="0"/>
          </a:p>
        </p:txBody>
      </p:sp>
      <p:sp>
        <p:nvSpPr>
          <p:cNvPr id="5" name="frame s_cmp_reports"/>
          <p:cNvSpPr/>
          <p:nvPr/>
        </p:nvSpPr>
        <p:spPr>
          <a:xfrm>
            <a:off x="5677470" y="1527048"/>
            <a:ext cx="6008562" cy="4489704"/>
          </a:xfrm>
          <a:prstGeom prst="roundRect">
            <a:avLst>
              <a:gd name="adj" fmla="val 2037"/>
            </a:avLst>
          </a:prstGeom>
          <a:solidFill>
            <a:schemeClr val="bg1"/>
          </a:solidFill>
          <a:ln w="12700">
            <a:solidFill>
              <a:srgbClr val="D9D4F2"/>
            </a:solidFill>
            <a:prstDash val="solid"/>
          </a:ln>
          <a:effectLst>
            <a:outerShdw sx="100000" sy="100000" kx="0" ky="0" algn="bl" rotWithShape="0" blurRad="101600" dist="25400" dir="5400000">
              <a:srgbClr val="2B2566">
                <a:alpha val="14000"/>
              </a:srgbClr>
            </a:outerShdw>
          </a:effectLst>
        </p:spPr>
      </p:sp>
      <p:pic>
        <p:nvPicPr>
          <p:cNvPr id="6" name="screen s_cmp_reports" descr="Compliance reports (figures only)">    </p:cNvPr>
          <p:cNvPicPr>
            <a:picLocks noChangeAspect="1"/>
          </p:cNvPicPr>
          <p:nvPr/>
        </p:nvPicPr>
        <p:blipFill>
          <a:blip r:embed="rId1"/>
          <a:stretch>
            <a:fillRect/>
          </a:stretch>
        </p:blipFill>
        <p:spPr>
          <a:xfrm>
            <a:off x="5750622" y="1600200"/>
            <a:ext cx="5862258" cy="4343400"/>
          </a:xfrm>
          <a:prstGeom prst="rect">
            <a:avLst/>
          </a:prstGeom>
        </p:spPr>
      </p:pic>
      <p:sp>
        <p:nvSpPr>
          <p:cNvPr id="7" name="Text 3"/>
          <p:cNvSpPr txBox="1"/>
          <p:nvPr/>
        </p:nvSpPr>
        <p:spPr>
          <a:xfrm>
            <a:off x="5677470" y="6071616"/>
            <a:ext cx="6008562" cy="256032"/>
          </a:xfrm>
          <a:prstGeom prst="rect">
            <a:avLst/>
          </a:prstGeom>
          <a:noFill/>
          <a:ln/>
        </p:spPr>
        <p:txBody>
          <a:bodyPr wrap="square" lIns="0" tIns="0" rIns="0" bIns="0" rtlCol="0" anchor="ctr"/>
          <a:lstStyle/>
          <a:p>
            <a:pPr indent="0" marL="0">
              <a:buNone/>
            </a:pPr>
            <a:r>
              <a:rPr lang="en-US" sz="1100" i="1" dirty="0">
                <a:solidFill>
                  <a:schemeClr val="accent6"/>
                </a:solidFill>
              </a:rPr>
              <a:t>Compliance reports (figures only)</a:t>
            </a:r>
            <a:endParaRPr lang="en-US" sz="11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Protected answers and evidence stay protected</a:t>
            </a:r>
            <a:endParaRPr lang="en-US" sz="3200" dirty="0"/>
          </a:p>
        </p:txBody>
      </p:sp>
      <p:sp>
        <p:nvSpPr>
          <p:cNvPr id="4" name="Shape 1"/>
          <p:cNvSpPr/>
          <p:nvPr/>
        </p:nvSpPr>
        <p:spPr>
          <a:xfrm>
            <a:off x="548640" y="1554480"/>
            <a:ext cx="5120640" cy="1371600"/>
          </a:xfrm>
          <a:prstGeom prst="roundRect">
            <a:avLst>
              <a:gd name="adj" fmla="val 6667"/>
            </a:avLst>
          </a:prstGeom>
          <a:solidFill>
            <a:schemeClr val="bg2"/>
          </a:solidFill>
          <a:ln/>
          <a:effectLst>
            <a:outerShdw sx="100000" sy="100000" kx="0" ky="0" algn="bl" rotWithShape="0" blurRad="101600" dist="25400" dir="5400000">
              <a:srgbClr val="2B2566">
                <a:alpha val="14000"/>
              </a:srgbClr>
            </a:outerShdw>
          </a:effectLst>
        </p:spPr>
      </p:sp>
      <p:sp>
        <p:nvSpPr>
          <p:cNvPr id="5" name="Text 2"/>
          <p:cNvSpPr txBox="1"/>
          <p:nvPr/>
        </p:nvSpPr>
        <p:spPr>
          <a:xfrm>
            <a:off x="777240" y="1664208"/>
            <a:ext cx="4663440" cy="685800"/>
          </a:xfrm>
          <a:prstGeom prst="rect">
            <a:avLst/>
          </a:prstGeom>
          <a:noFill/>
          <a:ln/>
        </p:spPr>
        <p:txBody>
          <a:bodyPr wrap="square" lIns="0" tIns="0" rIns="0" bIns="0" rtlCol="0" anchor="ctr"/>
          <a:lstStyle/>
          <a:p>
            <a:pPr indent="0" marL="0">
              <a:buNone/>
            </a:pPr>
            <a:r>
              <a:rPr lang="en-US" sz="3200" b="1" dirty="0">
                <a:solidFill>
                  <a:schemeClr val="accent1"/>
                </a:solidFill>
              </a:rPr>
              <a:t>AES-256-GCM</a:t>
            </a:r>
            <a:endParaRPr lang="en-US" sz="3200" dirty="0"/>
          </a:p>
        </p:txBody>
      </p:sp>
      <p:sp>
        <p:nvSpPr>
          <p:cNvPr id="6" name="Text 3"/>
          <p:cNvSpPr txBox="1"/>
          <p:nvPr/>
        </p:nvSpPr>
        <p:spPr>
          <a:xfrm>
            <a:off x="777240" y="2304288"/>
            <a:ext cx="4663440" cy="548640"/>
          </a:xfrm>
          <a:prstGeom prst="rect">
            <a:avLst/>
          </a:prstGeom>
          <a:noFill/>
          <a:ln/>
        </p:spPr>
        <p:txBody>
          <a:bodyPr wrap="square" lIns="0" tIns="0" rIns="0" bIns="0" rtlCol="0" anchor="t"/>
          <a:lstStyle/>
          <a:p>
            <a:pPr indent="0" marL="0">
              <a:buNone/>
            </a:pPr>
            <a:r>
              <a:rPr lang="en-US" sz="1400" dirty="0">
                <a:solidFill>
                  <a:schemeClr val="tx1"/>
                </a:solidFill>
              </a:rPr>
              <a:t>Protected answers sealed with a rotating key ring</a:t>
            </a:r>
            <a:endParaRPr lang="en-US" sz="1400" dirty="0"/>
          </a:p>
        </p:txBody>
      </p:sp>
      <p:sp>
        <p:nvSpPr>
          <p:cNvPr id="7" name="Shape 4"/>
          <p:cNvSpPr/>
          <p:nvPr/>
        </p:nvSpPr>
        <p:spPr>
          <a:xfrm>
            <a:off x="548640" y="3108960"/>
            <a:ext cx="5120640" cy="1371600"/>
          </a:xfrm>
          <a:prstGeom prst="roundRect">
            <a:avLst>
              <a:gd name="adj" fmla="val 6667"/>
            </a:avLst>
          </a:prstGeom>
          <a:solidFill>
            <a:schemeClr val="bg2"/>
          </a:solidFill>
          <a:ln/>
          <a:effectLst>
            <a:outerShdw sx="100000" sy="100000" kx="0" ky="0" algn="bl" rotWithShape="0" blurRad="101600" dist="25400" dir="5400000">
              <a:srgbClr val="2B2566">
                <a:alpha val="14000"/>
              </a:srgbClr>
            </a:outerShdw>
          </a:effectLst>
        </p:spPr>
      </p:sp>
      <p:sp>
        <p:nvSpPr>
          <p:cNvPr id="8" name="Text 5"/>
          <p:cNvSpPr txBox="1"/>
          <p:nvPr/>
        </p:nvSpPr>
        <p:spPr>
          <a:xfrm>
            <a:off x="777240" y="3218688"/>
            <a:ext cx="4663440" cy="685800"/>
          </a:xfrm>
          <a:prstGeom prst="rect">
            <a:avLst/>
          </a:prstGeom>
          <a:noFill/>
          <a:ln/>
        </p:spPr>
        <p:txBody>
          <a:bodyPr wrap="square" lIns="0" tIns="0" rIns="0" bIns="0" rtlCol="0" anchor="ctr"/>
          <a:lstStyle/>
          <a:p>
            <a:pPr indent="0" marL="0">
              <a:buNone/>
            </a:pPr>
            <a:r>
              <a:rPr lang="en-US" sz="3200" b="1" dirty="0">
                <a:solidFill>
                  <a:schemeClr val="accent1"/>
                </a:solidFill>
              </a:rPr>
              <a:t>2 minutes</a:t>
            </a:r>
            <a:endParaRPr lang="en-US" sz="3200" dirty="0"/>
          </a:p>
        </p:txBody>
      </p:sp>
      <p:sp>
        <p:nvSpPr>
          <p:cNvPr id="9" name="Text 6"/>
          <p:cNvSpPr txBox="1"/>
          <p:nvPr/>
        </p:nvSpPr>
        <p:spPr>
          <a:xfrm>
            <a:off x="777240" y="3858768"/>
            <a:ext cx="4663440" cy="548640"/>
          </a:xfrm>
          <a:prstGeom prst="rect">
            <a:avLst/>
          </a:prstGeom>
          <a:noFill/>
          <a:ln/>
        </p:spPr>
        <p:txBody>
          <a:bodyPr wrap="square" lIns="0" tIns="0" rIns="0" bIns="0" rtlCol="0" anchor="t"/>
          <a:lstStyle/>
          <a:p>
            <a:pPr indent="0" marL="0">
              <a:buNone/>
            </a:pPr>
            <a:r>
              <a:rPr lang="en-US" sz="1400" dirty="0">
                <a:solidFill>
                  <a:schemeClr val="tx1"/>
                </a:solidFill>
              </a:rPr>
              <a:t>Reveal window; the event is logged before anything is shown</a:t>
            </a:r>
            <a:endParaRPr lang="en-US" sz="1400" dirty="0"/>
          </a:p>
        </p:txBody>
      </p:sp>
      <p:sp>
        <p:nvSpPr>
          <p:cNvPr id="10" name="Shape 7"/>
          <p:cNvSpPr/>
          <p:nvPr/>
        </p:nvSpPr>
        <p:spPr>
          <a:xfrm>
            <a:off x="548640" y="4663440"/>
            <a:ext cx="5120640" cy="1371600"/>
          </a:xfrm>
          <a:prstGeom prst="roundRect">
            <a:avLst>
              <a:gd name="adj" fmla="val 6667"/>
            </a:avLst>
          </a:prstGeom>
          <a:solidFill>
            <a:schemeClr val="bg2"/>
          </a:solidFill>
          <a:ln/>
          <a:effectLst>
            <a:outerShdw sx="100000" sy="100000" kx="0" ky="0" algn="bl" rotWithShape="0" blurRad="101600" dist="25400" dir="5400000">
              <a:srgbClr val="2B2566">
                <a:alpha val="14000"/>
              </a:srgbClr>
            </a:outerShdw>
          </a:effectLst>
        </p:spPr>
      </p:sp>
      <p:sp>
        <p:nvSpPr>
          <p:cNvPr id="11" name="Text 8"/>
          <p:cNvSpPr txBox="1"/>
          <p:nvPr/>
        </p:nvSpPr>
        <p:spPr>
          <a:xfrm>
            <a:off x="777240" y="4773168"/>
            <a:ext cx="4663440" cy="685800"/>
          </a:xfrm>
          <a:prstGeom prst="rect">
            <a:avLst/>
          </a:prstGeom>
          <a:noFill/>
          <a:ln/>
        </p:spPr>
        <p:txBody>
          <a:bodyPr wrap="square" lIns="0" tIns="0" rIns="0" bIns="0" rtlCol="0" anchor="ctr"/>
          <a:lstStyle/>
          <a:p>
            <a:pPr indent="0" marL="0">
              <a:buNone/>
            </a:pPr>
            <a:r>
              <a:rPr lang="en-US" sz="3200" b="1" dirty="0">
                <a:solidFill>
                  <a:schemeClr val="accent1"/>
                </a:solidFill>
              </a:rPr>
              <a:t>7 years</a:t>
            </a:r>
            <a:endParaRPr lang="en-US" sz="3200" dirty="0"/>
          </a:p>
        </p:txBody>
      </p:sp>
      <p:sp>
        <p:nvSpPr>
          <p:cNvPr id="12" name="Text 9"/>
          <p:cNvSpPr txBox="1"/>
          <p:nvPr/>
        </p:nvSpPr>
        <p:spPr>
          <a:xfrm>
            <a:off x="777240" y="5413248"/>
            <a:ext cx="4663440" cy="548640"/>
          </a:xfrm>
          <a:prstGeom prst="rect">
            <a:avLst/>
          </a:prstGeom>
          <a:noFill/>
          <a:ln/>
        </p:spPr>
        <p:txBody>
          <a:bodyPr wrap="square" lIns="0" tIns="0" rIns="0" bIns="0" rtlCol="0" anchor="t"/>
          <a:lstStyle/>
          <a:p>
            <a:pPr indent="0" marL="0">
              <a:buNone/>
            </a:pPr>
            <a:r>
              <a:rPr lang="en-US" sz="1400" dirty="0">
                <a:solidFill>
                  <a:schemeClr val="tx1"/>
                </a:solidFill>
              </a:rPr>
              <a:t>Retention built in; cases cannot be deleted while retained</a:t>
            </a:r>
            <a:endParaRPr lang="en-US" sz="1400" dirty="0"/>
          </a:p>
        </p:txBody>
      </p:sp>
      <p:sp>
        <p:nvSpPr>
          <p:cNvPr id="13" name="icon bg Masked until revealed"/>
          <p:cNvSpPr/>
          <p:nvPr/>
        </p:nvSpPr>
        <p:spPr>
          <a:xfrm>
            <a:off x="6126480" y="1600200"/>
            <a:ext cx="566928" cy="566928"/>
          </a:xfrm>
          <a:prstGeom prst="ellipse">
            <a:avLst/>
          </a:prstGeom>
          <a:solidFill>
            <a:schemeClr val="accent1"/>
          </a:solidFill>
          <a:ln/>
        </p:spPr>
      </p:sp>
      <p:pic>
        <p:nvPicPr>
          <p:cNvPr id="14" name="Image 0" descr="preencoded.png">    </p:cNvPr>
          <p:cNvPicPr>
            <a:picLocks noChangeAspect="1"/>
          </p:cNvPicPr>
          <p:nvPr/>
        </p:nvPicPr>
        <p:blipFill>
          <a:blip r:embed="rId1"/>
          <a:stretch>
            <a:fillRect/>
          </a:stretch>
        </p:blipFill>
        <p:spPr>
          <a:xfrm>
            <a:off x="6263640" y="1737360"/>
            <a:ext cx="292608" cy="292608"/>
          </a:xfrm>
          <a:prstGeom prst="rect">
            <a:avLst/>
          </a:prstGeom>
        </p:spPr>
      </p:pic>
      <p:sp>
        <p:nvSpPr>
          <p:cNvPr id="15" name="Text 11"/>
          <p:cNvSpPr txBox="1"/>
          <p:nvPr/>
        </p:nvSpPr>
        <p:spPr>
          <a:xfrm>
            <a:off x="6903720" y="1554480"/>
            <a:ext cx="4709160" cy="132588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Masked until revealed</a:t>
            </a:r>
            <a:endParaRPr lang="en-US" sz="1800" dirty="0"/>
          </a:p>
          <a:p>
            <a:pPr indent="0" marL="0">
              <a:spcAft>
                <a:spcPts val="300"/>
              </a:spcAft>
              <a:buNone/>
            </a:pPr>
            <a:r>
              <a:rPr lang="en-US" sz="1400" dirty="0">
                <a:solidFill>
                  <a:schemeClr val="tx2"/>
                </a:solidFill>
              </a:rPr>
              <a:t>Bank details show as the last four characters. Reveal needs its own permission, is limited to ten a minute, and hides again on its own.</a:t>
            </a:r>
            <a:endParaRPr lang="en-US" sz="1800" dirty="0"/>
          </a:p>
        </p:txBody>
      </p:sp>
      <p:sp>
        <p:nvSpPr>
          <p:cNvPr id="16" name="icon bg Evidence in a private store"/>
          <p:cNvSpPr/>
          <p:nvPr/>
        </p:nvSpPr>
        <p:spPr>
          <a:xfrm>
            <a:off x="6126480" y="3063240"/>
            <a:ext cx="566928" cy="566928"/>
          </a:xfrm>
          <a:prstGeom prst="ellipse">
            <a:avLst/>
          </a:prstGeom>
          <a:solidFill>
            <a:schemeClr val="accent3"/>
          </a:solidFill>
          <a:ln/>
        </p:spPr>
      </p:sp>
      <p:pic>
        <p:nvPicPr>
          <p:cNvPr id="17" name="Image 1" descr="preencoded.png">    </p:cNvPr>
          <p:cNvPicPr>
            <a:picLocks noChangeAspect="1"/>
          </p:cNvPicPr>
          <p:nvPr/>
        </p:nvPicPr>
        <p:blipFill>
          <a:blip r:embed="rId2"/>
          <a:stretch>
            <a:fillRect/>
          </a:stretch>
        </p:blipFill>
        <p:spPr>
          <a:xfrm>
            <a:off x="6263640" y="3200400"/>
            <a:ext cx="292608" cy="292608"/>
          </a:xfrm>
          <a:prstGeom prst="rect">
            <a:avLst/>
          </a:prstGeom>
        </p:spPr>
      </p:pic>
      <p:sp>
        <p:nvSpPr>
          <p:cNvPr id="18" name="Text 13"/>
          <p:cNvSpPr txBox="1"/>
          <p:nvPr/>
        </p:nvSpPr>
        <p:spPr>
          <a:xfrm>
            <a:off x="6903720" y="3017520"/>
            <a:ext cx="4709160" cy="132588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Evidence in a private store</a:t>
            </a:r>
            <a:endParaRPr lang="en-US" sz="1800" dirty="0"/>
          </a:p>
          <a:p>
            <a:pPr indent="0" marL="0">
              <a:spcAft>
                <a:spcPts val="300"/>
              </a:spcAft>
              <a:buNone/>
            </a:pPr>
            <a:r>
              <a:rPr lang="en-US" sz="1400" dirty="0">
                <a:solidFill>
                  <a:schemeClr val="tx2"/>
                </a:solidFill>
              </a:rPr>
              <a:t>PDF, JPEG or PNG checked by content, 10 MB a file, a SHA-256 kept with each row. Every download is logged first.</a:t>
            </a:r>
            <a:endParaRPr lang="en-US" sz="1800" dirty="0"/>
          </a:p>
        </p:txBody>
      </p:sp>
      <p:sp>
        <p:nvSpPr>
          <p:cNvPr id="19" name="icon bg An append-only timeline"/>
          <p:cNvSpPr/>
          <p:nvPr/>
        </p:nvSpPr>
        <p:spPr>
          <a:xfrm>
            <a:off x="6126480" y="4526280"/>
            <a:ext cx="566928" cy="566928"/>
          </a:xfrm>
          <a:prstGeom prst="ellipse">
            <a:avLst/>
          </a:prstGeom>
          <a:solidFill>
            <a:schemeClr val="accent2"/>
          </a:solidFill>
          <a:ln/>
        </p:spPr>
      </p:sp>
      <p:pic>
        <p:nvPicPr>
          <p:cNvPr id="20" name="Image 2" descr="preencoded.png">    </p:cNvPr>
          <p:cNvPicPr>
            <a:picLocks noChangeAspect="1"/>
          </p:cNvPicPr>
          <p:nvPr/>
        </p:nvPicPr>
        <p:blipFill>
          <a:blip r:embed="rId3"/>
          <a:stretch>
            <a:fillRect/>
          </a:stretch>
        </p:blipFill>
        <p:spPr>
          <a:xfrm>
            <a:off x="6263640" y="4663440"/>
            <a:ext cx="292608" cy="292608"/>
          </a:xfrm>
          <a:prstGeom prst="rect">
            <a:avLst/>
          </a:prstGeom>
        </p:spPr>
      </p:pic>
      <p:sp>
        <p:nvSpPr>
          <p:cNvPr id="21" name="Text 15"/>
          <p:cNvSpPr txBox="1"/>
          <p:nvPr/>
        </p:nvSpPr>
        <p:spPr>
          <a:xfrm>
            <a:off x="6903720" y="4480560"/>
            <a:ext cx="4709160" cy="132588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An append-only timeline</a:t>
            </a:r>
            <a:endParaRPr lang="en-US" sz="1800" dirty="0"/>
          </a:p>
          <a:p>
            <a:pPr indent="0" marL="0">
              <a:spcAft>
                <a:spcPts val="300"/>
              </a:spcAft>
              <a:buNone/>
            </a:pPr>
            <a:r>
              <a:rPr lang="en-US" sz="1400" dirty="0">
                <a:solidFill>
                  <a:schemeClr val="tx2"/>
                </a:solidFill>
              </a:rPr>
              <a:t>Created, edited, status, reveal, view, export, pause: nothing can be changed or removed.</a:t>
            </a:r>
            <a:endParaRPr lang="en-US" sz="18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Requests arrive from the customer, the chat or staff</a:t>
            </a:r>
            <a:endParaRPr lang="en-US" sz="3200" dirty="0"/>
          </a:p>
        </p:txBody>
      </p:sp>
      <p:sp>
        <p:nvSpPr>
          <p:cNvPr id="4" name="Shape 1"/>
          <p:cNvSpPr/>
          <p:nvPr/>
        </p:nvSpPr>
        <p:spPr>
          <a:xfrm>
            <a:off x="548640" y="1828800"/>
            <a:ext cx="4023360" cy="1188720"/>
          </a:xfrm>
          <a:prstGeom prst="roundRect">
            <a:avLst>
              <a:gd name="adj" fmla="val 7692"/>
            </a:avLst>
          </a:prstGeom>
          <a:solidFill>
            <a:schemeClr val="bg2"/>
          </a:solidFill>
          <a:ln/>
          <a:effectLst>
            <a:outerShdw sx="100000" sy="100000" kx="0" ky="0" algn="bl" rotWithShape="0" blurRad="101600" dist="25400" dir="5400000">
              <a:srgbClr val="2B2566">
                <a:alpha val="14000"/>
              </a:srgbClr>
            </a:outerShdw>
          </a:effectLst>
        </p:spPr>
      </p:sp>
      <p:sp>
        <p:nvSpPr>
          <p:cNvPr id="5" name="Shape 2"/>
          <p:cNvSpPr/>
          <p:nvPr/>
        </p:nvSpPr>
        <p:spPr>
          <a:xfrm>
            <a:off x="731520" y="2121408"/>
            <a:ext cx="603504" cy="603504"/>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86968" y="2276856"/>
            <a:ext cx="292608" cy="292608"/>
          </a:xfrm>
          <a:prstGeom prst="rect">
            <a:avLst/>
          </a:prstGeom>
        </p:spPr>
      </p:pic>
      <p:sp>
        <p:nvSpPr>
          <p:cNvPr id="7" name="Text 3"/>
          <p:cNvSpPr txBox="1"/>
          <p:nvPr/>
        </p:nvSpPr>
        <p:spPr>
          <a:xfrm>
            <a:off x="1554480" y="1938528"/>
            <a:ext cx="2880360" cy="960120"/>
          </a:xfrm>
          <a:prstGeom prst="rect">
            <a:avLst/>
          </a:prstGeom>
          <a:noFill/>
          <a:ln/>
        </p:spPr>
        <p:txBody>
          <a:bodyPr wrap="square" lIns="0" tIns="0" rIns="0" bIns="0" rtlCol="0" anchor="ctr"/>
          <a:lstStyle/>
          <a:p>
            <a:pPr indent="0" marL="0">
              <a:buNone/>
            </a:pPr>
            <a:r>
              <a:rPr lang="en-US" sz="1800" b="1" dirty="0">
                <a:solidFill>
                  <a:schemeClr val="tx1"/>
                </a:solidFill>
              </a:rPr>
              <a:t>Public form</a:t>
            </a:r>
            <a:endParaRPr lang="en-US" sz="1800" dirty="0"/>
          </a:p>
          <a:p>
            <a:pPr indent="0" marL="0">
              <a:buNone/>
            </a:pPr>
            <a:r>
              <a:rPr lang="en-US" sz="1400" dirty="0">
                <a:solidFill>
                  <a:schemeClr val="tx2"/>
                </a:solidFill>
              </a:rPr>
              <a:t>A link the customer opens, filled in over several sittings</a:t>
            </a:r>
            <a:endParaRPr lang="en-US" sz="1800" dirty="0"/>
          </a:p>
        </p:txBody>
      </p:sp>
      <p:sp>
        <p:nvSpPr>
          <p:cNvPr id="8" name="Shape 4"/>
          <p:cNvSpPr/>
          <p:nvPr/>
        </p:nvSpPr>
        <p:spPr>
          <a:xfrm>
            <a:off x="4572000" y="2423160"/>
            <a:ext cx="822960" cy="0"/>
          </a:xfrm>
          <a:prstGeom prst="line">
            <a:avLst/>
          </a:prstGeom>
          <a:noFill/>
          <a:ln w="19050">
            <a:solidFill>
              <a:srgbClr val="6B7280"/>
            </a:solidFill>
            <a:prstDash val="solid"/>
            <a:tailEnd type="triangle"/>
          </a:ln>
        </p:spPr>
      </p:sp>
      <p:sp>
        <p:nvSpPr>
          <p:cNvPr id="9" name="Shape 5"/>
          <p:cNvSpPr/>
          <p:nvPr/>
        </p:nvSpPr>
        <p:spPr>
          <a:xfrm>
            <a:off x="548640" y="3246120"/>
            <a:ext cx="4023360" cy="1188720"/>
          </a:xfrm>
          <a:prstGeom prst="roundRect">
            <a:avLst>
              <a:gd name="adj" fmla="val 7692"/>
            </a:avLst>
          </a:prstGeom>
          <a:solidFill>
            <a:schemeClr val="bg2"/>
          </a:solidFill>
          <a:ln/>
          <a:effectLst>
            <a:outerShdw sx="100000" sy="100000" kx="0" ky="0" algn="bl" rotWithShape="0" blurRad="101600" dist="25400" dir="5400000">
              <a:srgbClr val="2B2566">
                <a:alpha val="14000"/>
              </a:srgbClr>
            </a:outerShdw>
          </a:effectLst>
        </p:spPr>
      </p:sp>
      <p:sp>
        <p:nvSpPr>
          <p:cNvPr id="10" name="Shape 6"/>
          <p:cNvSpPr/>
          <p:nvPr/>
        </p:nvSpPr>
        <p:spPr>
          <a:xfrm>
            <a:off x="731520" y="3538728"/>
            <a:ext cx="603504" cy="603504"/>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886968" y="3694176"/>
            <a:ext cx="292608" cy="292608"/>
          </a:xfrm>
          <a:prstGeom prst="rect">
            <a:avLst/>
          </a:prstGeom>
        </p:spPr>
      </p:pic>
      <p:sp>
        <p:nvSpPr>
          <p:cNvPr id="12" name="Text 7"/>
          <p:cNvSpPr txBox="1"/>
          <p:nvPr/>
        </p:nvSpPr>
        <p:spPr>
          <a:xfrm>
            <a:off x="1554480" y="3355848"/>
            <a:ext cx="2880360" cy="960120"/>
          </a:xfrm>
          <a:prstGeom prst="rect">
            <a:avLst/>
          </a:prstGeom>
          <a:noFill/>
          <a:ln/>
        </p:spPr>
        <p:txBody>
          <a:bodyPr wrap="square" lIns="0" tIns="0" rIns="0" bIns="0" rtlCol="0" anchor="ctr"/>
          <a:lstStyle/>
          <a:p>
            <a:pPr indent="0" marL="0">
              <a:buNone/>
            </a:pPr>
            <a:r>
              <a:rPr lang="en-US" sz="1800" b="1" dirty="0">
                <a:solidFill>
                  <a:schemeClr val="tx1"/>
                </a:solidFill>
              </a:rPr>
              <a:t>In the chat</a:t>
            </a:r>
            <a:endParaRPr lang="en-US" sz="1800" dirty="0"/>
          </a:p>
          <a:p>
            <a:pPr indent="0" marL="0">
              <a:buNone/>
            </a:pPr>
            <a:r>
              <a:rPr lang="en-US" sz="1400" dirty="0">
                <a:solidFill>
                  <a:schemeClr val="tx2"/>
                </a:solidFill>
              </a:rPr>
              <a:t>A card or personal link sent in the conversation</a:t>
            </a:r>
            <a:endParaRPr lang="en-US" sz="1800" dirty="0"/>
          </a:p>
        </p:txBody>
      </p:sp>
      <p:sp>
        <p:nvSpPr>
          <p:cNvPr id="13" name="Shape 8"/>
          <p:cNvSpPr/>
          <p:nvPr/>
        </p:nvSpPr>
        <p:spPr>
          <a:xfrm>
            <a:off x="4572000" y="3840480"/>
            <a:ext cx="822960" cy="0"/>
          </a:xfrm>
          <a:prstGeom prst="line">
            <a:avLst/>
          </a:prstGeom>
          <a:noFill/>
          <a:ln w="19050">
            <a:solidFill>
              <a:srgbClr val="6B7280"/>
            </a:solidFill>
            <a:prstDash val="solid"/>
            <a:tailEnd type="triangle"/>
          </a:ln>
        </p:spPr>
      </p:sp>
      <p:sp>
        <p:nvSpPr>
          <p:cNvPr id="14" name="Shape 9"/>
          <p:cNvSpPr/>
          <p:nvPr/>
        </p:nvSpPr>
        <p:spPr>
          <a:xfrm>
            <a:off x="548640" y="4663440"/>
            <a:ext cx="4023360" cy="1188720"/>
          </a:xfrm>
          <a:prstGeom prst="roundRect">
            <a:avLst>
              <a:gd name="adj" fmla="val 7692"/>
            </a:avLst>
          </a:prstGeom>
          <a:solidFill>
            <a:schemeClr val="bg2"/>
          </a:solidFill>
          <a:ln/>
          <a:effectLst>
            <a:outerShdw sx="100000" sy="100000" kx="0" ky="0" algn="bl" rotWithShape="0" blurRad="101600" dist="25400" dir="5400000">
              <a:srgbClr val="2B2566">
                <a:alpha val="14000"/>
              </a:srgbClr>
            </a:outerShdw>
          </a:effectLst>
        </p:spPr>
      </p:sp>
      <p:sp>
        <p:nvSpPr>
          <p:cNvPr id="15" name="Shape 10"/>
          <p:cNvSpPr/>
          <p:nvPr/>
        </p:nvSpPr>
        <p:spPr>
          <a:xfrm>
            <a:off x="731520" y="4956048"/>
            <a:ext cx="603504" cy="603504"/>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886968" y="5111496"/>
            <a:ext cx="292608" cy="292608"/>
          </a:xfrm>
          <a:prstGeom prst="rect">
            <a:avLst/>
          </a:prstGeom>
        </p:spPr>
      </p:pic>
      <p:sp>
        <p:nvSpPr>
          <p:cNvPr id="17" name="Text 11"/>
          <p:cNvSpPr txBox="1"/>
          <p:nvPr/>
        </p:nvSpPr>
        <p:spPr>
          <a:xfrm>
            <a:off x="1554480" y="4773168"/>
            <a:ext cx="2880360" cy="960120"/>
          </a:xfrm>
          <a:prstGeom prst="rect">
            <a:avLst/>
          </a:prstGeom>
          <a:noFill/>
          <a:ln/>
        </p:spPr>
        <p:txBody>
          <a:bodyPr wrap="square" lIns="0" tIns="0" rIns="0" bIns="0" rtlCol="0" anchor="ctr"/>
          <a:lstStyle/>
          <a:p>
            <a:pPr indent="0" marL="0">
              <a:buNone/>
            </a:pPr>
            <a:r>
              <a:rPr lang="en-US" sz="1800" b="1" dirty="0">
                <a:solidFill>
                  <a:schemeClr val="tx1"/>
                </a:solidFill>
              </a:rPr>
              <a:t>Raised by staff</a:t>
            </a:r>
            <a:endParaRPr lang="en-US" sz="1800" dirty="0"/>
          </a:p>
          <a:p>
            <a:pPr indent="0" marL="0">
              <a:buNone/>
            </a:pPr>
            <a:r>
              <a:rPr lang="en-US" sz="1400" dirty="0">
                <a:solidFill>
                  <a:schemeClr val="tx2"/>
                </a:solidFill>
              </a:rPr>
              <a:t>From an Inbox conversation or a ticket</a:t>
            </a:r>
            <a:endParaRPr lang="en-US" sz="1800" dirty="0"/>
          </a:p>
        </p:txBody>
      </p:sp>
      <p:sp>
        <p:nvSpPr>
          <p:cNvPr id="18" name="Shape 12"/>
          <p:cNvSpPr/>
          <p:nvPr/>
        </p:nvSpPr>
        <p:spPr>
          <a:xfrm>
            <a:off x="4572000" y="5257800"/>
            <a:ext cx="822960" cy="0"/>
          </a:xfrm>
          <a:prstGeom prst="line">
            <a:avLst/>
          </a:prstGeom>
          <a:noFill/>
          <a:ln w="19050">
            <a:solidFill>
              <a:srgbClr val="6B7280"/>
            </a:solidFill>
            <a:prstDash val="solid"/>
            <a:tailEnd type="triangle"/>
          </a:ln>
        </p:spPr>
      </p:sp>
      <p:sp>
        <p:nvSpPr>
          <p:cNvPr id="19" name="Shape 13"/>
          <p:cNvSpPr/>
          <p:nvPr/>
        </p:nvSpPr>
        <p:spPr>
          <a:xfrm>
            <a:off x="5440680" y="2194560"/>
            <a:ext cx="2743200" cy="3200400"/>
          </a:xfrm>
          <a:prstGeom prst="roundRect">
            <a:avLst>
              <a:gd name="adj" fmla="val 4000"/>
            </a:avLst>
          </a:prstGeom>
          <a:solidFill>
            <a:schemeClr val="accent1"/>
          </a:solidFill>
          <a:ln/>
          <a:effectLst>
            <a:outerShdw sx="100000" sy="100000" kx="0" ky="0" algn="bl" rotWithShape="0" blurRad="101600" dist="25400" dir="5400000">
              <a:srgbClr val="2B2566">
                <a:alpha val="14000"/>
              </a:srgbClr>
            </a:outerShdw>
          </a:effectLst>
        </p:spPr>
      </p:sp>
      <p:sp>
        <p:nvSpPr>
          <p:cNvPr id="20" name="Text 14"/>
          <p:cNvSpPr txBox="1"/>
          <p:nvPr/>
        </p:nvSpPr>
        <p:spPr>
          <a:xfrm>
            <a:off x="5669280" y="2423160"/>
            <a:ext cx="2286000" cy="2743200"/>
          </a:xfrm>
          <a:prstGeom prst="rect">
            <a:avLst/>
          </a:prstGeom>
          <a:noFill/>
          <a:ln/>
        </p:spPr>
        <p:txBody>
          <a:bodyPr wrap="square" lIns="0" tIns="0" rIns="0" bIns="0" rtlCol="0" anchor="t"/>
          <a:lstStyle/>
          <a:p>
            <a:pPr indent="0" marL="0">
              <a:spcAft>
                <a:spcPts val="800"/>
              </a:spcAft>
              <a:buNone/>
            </a:pPr>
            <a:r>
              <a:rPr lang="en-US" sz="2200" b="1" dirty="0">
                <a:solidFill>
                  <a:schemeClr val="bg1"/>
                </a:solidFill>
              </a:rPr>
              <a:t>One case</a:t>
            </a:r>
            <a:endParaRPr lang="en-US" sz="2200" dirty="0"/>
          </a:p>
          <a:p>
            <a:pPr indent="0" marL="0">
              <a:spcAft>
                <a:spcPts val="800"/>
              </a:spcAft>
              <a:buNone/>
            </a:pPr>
            <a:r>
              <a:rPr lang="en-US" sz="1400" dirty="0">
                <a:solidFill>
                  <a:schemeClr val="bg2"/>
                </a:solidFill>
              </a:rPr>
              <a:t>Reference CMP-year-number, clocks stamped from the request type, checklist copied in, retention date set</a:t>
            </a:r>
            <a:endParaRPr lang="en-US" sz="2200" dirty="0"/>
          </a:p>
        </p:txBody>
      </p:sp>
      <p:sp>
        <p:nvSpPr>
          <p:cNvPr id="21" name="Shape 15"/>
          <p:cNvSpPr/>
          <p:nvPr/>
        </p:nvSpPr>
        <p:spPr>
          <a:xfrm>
            <a:off x="8183880" y="3794760"/>
            <a:ext cx="822960" cy="0"/>
          </a:xfrm>
          <a:prstGeom prst="line">
            <a:avLst/>
          </a:prstGeom>
          <a:noFill/>
          <a:ln w="19050">
            <a:solidFill>
              <a:srgbClr val="6B7280"/>
            </a:solidFill>
            <a:prstDash val="solid"/>
            <a:tailEnd type="triangle"/>
          </a:ln>
        </p:spPr>
      </p:sp>
      <p:sp>
        <p:nvSpPr>
          <p:cNvPr id="22" name="Text 16"/>
          <p:cNvSpPr txBox="1"/>
          <p:nvPr/>
        </p:nvSpPr>
        <p:spPr>
          <a:xfrm>
            <a:off x="9098280" y="2194560"/>
            <a:ext cx="2606040" cy="3474720"/>
          </a:xfrm>
          <a:prstGeom prst="rect">
            <a:avLst/>
          </a:prstGeom>
          <a:noFill/>
          <a:ln/>
        </p:spPr>
        <p:txBody>
          <a:bodyPr wrap="square" lIns="0" tIns="0" rIns="0" bIns="0" rtlCol="0" anchor="t"/>
          <a:lstStyle/>
          <a:p>
            <a:pPr marL="228600" indent="-228600">
              <a:spcAft>
                <a:spcPts val="900"/>
              </a:spcAft>
              <a:buSzPct val="100000"/>
              <a:buChar char="•"/>
            </a:pPr>
            <a:r>
              <a:rPr lang="en-US" sz="1400" dirty="0">
                <a:solidFill>
                  <a:schemeClr val="tx1"/>
                </a:solidFill>
              </a:rPr>
              <a:t>E-mails to the customer and to staff at each stage</a:t>
            </a:r>
            <a:endParaRPr lang="en-US" sz="1400" dirty="0"/>
          </a:p>
          <a:p>
            <a:pPr marL="228600" indent="-228600">
              <a:spcAft>
                <a:spcPts val="900"/>
              </a:spcAft>
              <a:buSzPct val="100000"/>
              <a:buChar char="•"/>
            </a:pPr>
            <a:r>
              <a:rPr lang="en-US" sz="1400" dirty="0">
                <a:solidFill>
                  <a:schemeClr val="tx1"/>
                </a:solidFill>
              </a:rPr>
              <a:t>In-app notifications for the people who must act</a:t>
            </a:r>
            <a:endParaRPr lang="en-US" sz="1400" dirty="0"/>
          </a:p>
          <a:p>
            <a:pPr marL="228600" indent="-228600">
              <a:spcAft>
                <a:spcPts val="900"/>
              </a:spcAft>
              <a:buSzPct val="100000"/>
              <a:buChar char="•"/>
            </a:pPr>
            <a:r>
              <a:rPr lang="en-US" sz="1400" dirty="0">
                <a:solidFill>
                  <a:schemeClr val="tx1"/>
                </a:solidFill>
              </a:rPr>
              <a:t>Account closure, withdrawal and account-change types built in; your own types can be added</a:t>
            </a:r>
            <a:endParaRPr lang="en-US" sz="14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eKYC review that shows only what the reviewer needs</a:t>
            </a:r>
            <a:endParaRPr lang="en-US" sz="3200" dirty="0"/>
          </a:p>
        </p:txBody>
      </p:sp>
      <p:sp>
        <p:nvSpPr>
          <p:cNvPr id="4" name="Text 1"/>
          <p:cNvSpPr txBox="1"/>
          <p:nvPr/>
        </p:nvSpPr>
        <p:spPr>
          <a:xfrm>
            <a:off x="548640" y="1554480"/>
            <a:ext cx="5394960" cy="448056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chemeClr val="tx1"/>
                </a:solidFill>
              </a:rPr>
              <a:t>ID images are fetched on demand and streamed to the reviewer. Halo stores none of the customer’s data, only the access log.</a:t>
            </a:r>
            <a:endParaRPr lang="en-US" sz="1500" dirty="0"/>
          </a:p>
          <a:p>
            <a:pPr marL="228600" indent="-228600">
              <a:spcAft>
                <a:spcPts val="900"/>
              </a:spcAft>
              <a:buSzPct val="100000"/>
              <a:buChar char="•"/>
            </a:pPr>
            <a:r>
              <a:rPr lang="en-US" sz="1500" dirty="0">
                <a:solidFill>
                  <a:schemeClr val="tx1"/>
                </a:solidFill>
              </a:rPr>
              <a:t>Personal details are masked until the reviewer chooses Reveal. Each reveal is logged and expires; an idle cover and a watermark discourage leaks.</a:t>
            </a:r>
            <a:endParaRPr lang="en-US" sz="1500" dirty="0"/>
          </a:p>
          <a:p>
            <a:pPr marL="228600" indent="-228600">
              <a:spcAft>
                <a:spcPts val="900"/>
              </a:spcAft>
              <a:buSzPct val="100000"/>
              <a:buChar char="•"/>
            </a:pPr>
            <a:r>
              <a:rPr lang="en-US" sz="1500" dirty="0">
                <a:solidFill>
                  <a:schemeClr val="tx1"/>
                </a:solidFill>
              </a:rPr>
              <a:t>Every search, list, image view and decision writes an append-only log row first: who, what and when.</a:t>
            </a:r>
            <a:endParaRPr lang="en-US" sz="1500" dirty="0"/>
          </a:p>
          <a:p>
            <a:pPr marL="228600" indent="-228600">
              <a:spcAft>
                <a:spcPts val="900"/>
              </a:spcAft>
              <a:buSzPct val="100000"/>
              <a:buChar char="•"/>
            </a:pPr>
            <a:r>
              <a:rPr lang="en-US" sz="1500" dirty="0">
                <a:solidFill>
                  <a:schemeClr val="tx1"/>
                </a:solidFill>
              </a:rPr>
              <a:t>Approve, reject, or amend a rejection with a required reason. The page opens on the checks that need a review.</a:t>
            </a:r>
            <a:endParaRPr lang="en-US" sz="1500" dirty="0"/>
          </a:p>
        </p:txBody>
      </p:sp>
      <p:sp>
        <p:nvSpPr>
          <p:cNvPr id="5" name="Shape 2"/>
          <p:cNvSpPr/>
          <p:nvPr/>
        </p:nvSpPr>
        <p:spPr>
          <a:xfrm>
            <a:off x="6492240" y="1600200"/>
            <a:ext cx="5029200" cy="4069080"/>
          </a:xfrm>
          <a:prstGeom prst="roundRect">
            <a:avLst>
              <a:gd name="adj" fmla="val 2697"/>
            </a:avLst>
          </a:prstGeom>
          <a:solidFill>
            <a:schemeClr val="bg1"/>
          </a:solidFill>
          <a:ln w="12700">
            <a:solidFill>
              <a:srgbClr val="D9D4F2"/>
            </a:solidFill>
            <a:prstDash val="solid"/>
          </a:ln>
          <a:effectLst>
            <a:outerShdw sx="100000" sy="100000" kx="0" ky="0" algn="bl" rotWithShape="0" blurRad="101600" dist="25400" dir="5400000">
              <a:srgbClr val="2B2566">
                <a:alpha val="14000"/>
              </a:srgbClr>
            </a:outerShdw>
          </a:effectLst>
        </p:spPr>
      </p:sp>
      <p:sp>
        <p:nvSpPr>
          <p:cNvPr id="6" name="Text 3"/>
          <p:cNvSpPr txBox="1"/>
          <p:nvPr/>
        </p:nvSpPr>
        <p:spPr>
          <a:xfrm>
            <a:off x="6766560" y="178308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Validation</a:t>
            </a:r>
            <a:endParaRPr lang="en-US" sz="1800" dirty="0"/>
          </a:p>
        </p:txBody>
      </p:sp>
      <p:sp>
        <p:nvSpPr>
          <p:cNvPr id="7" name="Shape 4"/>
          <p:cNvSpPr/>
          <p:nvPr/>
        </p:nvSpPr>
        <p:spPr>
          <a:xfrm>
            <a:off x="9784080" y="1801368"/>
            <a:ext cx="1463040" cy="329184"/>
          </a:xfrm>
          <a:prstGeom prst="roundRect">
            <a:avLst>
              <a:gd name="adj" fmla="val 50000"/>
            </a:avLst>
          </a:prstGeom>
          <a:solidFill>
            <a:schemeClr val="accent4"/>
          </a:solidFill>
          <a:ln/>
        </p:spPr>
      </p:sp>
      <p:sp>
        <p:nvSpPr>
          <p:cNvPr id="8" name="Text 5"/>
          <p:cNvSpPr txBox="1"/>
          <p:nvPr/>
        </p:nvSpPr>
        <p:spPr>
          <a:xfrm>
            <a:off x="9784080" y="1801368"/>
            <a:ext cx="1463040" cy="329184"/>
          </a:xfrm>
          <a:prstGeom prst="rect">
            <a:avLst/>
          </a:prstGeom>
          <a:noFill/>
          <a:ln/>
        </p:spPr>
        <p:txBody>
          <a:bodyPr wrap="square" lIns="0" tIns="0" rIns="0" bIns="0" rtlCol="0" anchor="ctr"/>
          <a:lstStyle/>
          <a:p>
            <a:pPr algn="ctr" indent="0" marL="0">
              <a:buNone/>
            </a:pPr>
            <a:r>
              <a:rPr lang="en-US" sz="1200" b="1" dirty="0">
                <a:solidFill>
                  <a:schemeClr val="tx1"/>
                </a:solidFill>
              </a:rPr>
              <a:t>Needs review</a:t>
            </a:r>
            <a:endParaRPr lang="en-US" sz="1200" dirty="0"/>
          </a:p>
        </p:txBody>
      </p:sp>
      <p:sp>
        <p:nvSpPr>
          <p:cNvPr id="9" name="Text 6"/>
          <p:cNvSpPr txBox="1"/>
          <p:nvPr/>
        </p:nvSpPr>
        <p:spPr>
          <a:xfrm>
            <a:off x="6766560" y="2377440"/>
            <a:ext cx="2011680" cy="365760"/>
          </a:xfrm>
          <a:prstGeom prst="rect">
            <a:avLst/>
          </a:prstGeom>
          <a:noFill/>
          <a:ln/>
        </p:spPr>
        <p:txBody>
          <a:bodyPr wrap="square" lIns="0" tIns="0" rIns="0" bIns="0" rtlCol="0" anchor="ctr"/>
          <a:lstStyle/>
          <a:p>
            <a:pPr indent="0" marL="0">
              <a:buNone/>
            </a:pPr>
            <a:r>
              <a:rPr lang="en-US" sz="1400" dirty="0">
                <a:solidFill>
                  <a:schemeClr val="accent6"/>
                </a:solidFill>
              </a:rPr>
              <a:t>Name</a:t>
            </a:r>
            <a:endParaRPr lang="en-US" sz="1400" dirty="0"/>
          </a:p>
        </p:txBody>
      </p:sp>
      <p:sp>
        <p:nvSpPr>
          <p:cNvPr id="10" name="Text 7"/>
          <p:cNvSpPr txBox="1"/>
          <p:nvPr/>
        </p:nvSpPr>
        <p:spPr>
          <a:xfrm>
            <a:off x="8869680" y="2377440"/>
            <a:ext cx="2377440" cy="365760"/>
          </a:xfrm>
          <a:prstGeom prst="rect">
            <a:avLst/>
          </a:prstGeom>
          <a:noFill/>
          <a:ln/>
        </p:spPr>
        <p:txBody>
          <a:bodyPr wrap="square" lIns="0" tIns="0" rIns="0" bIns="0" rtlCol="0" anchor="ctr"/>
          <a:lstStyle/>
          <a:p>
            <a:pPr indent="0" marL="0">
              <a:buNone/>
            </a:pPr>
            <a:r>
              <a:rPr lang="en-US" sz="1400" dirty="0">
                <a:solidFill>
                  <a:schemeClr val="tx1"/>
                </a:solidFill>
              </a:rPr>
              <a:t>A••• B•••••</a:t>
            </a:r>
            <a:endParaRPr lang="en-US" sz="1400" dirty="0"/>
          </a:p>
        </p:txBody>
      </p:sp>
      <p:sp>
        <p:nvSpPr>
          <p:cNvPr id="11" name="Text 8"/>
          <p:cNvSpPr txBox="1"/>
          <p:nvPr/>
        </p:nvSpPr>
        <p:spPr>
          <a:xfrm>
            <a:off x="6766560" y="2834640"/>
            <a:ext cx="2011680" cy="365760"/>
          </a:xfrm>
          <a:prstGeom prst="rect">
            <a:avLst/>
          </a:prstGeom>
          <a:noFill/>
          <a:ln/>
        </p:spPr>
        <p:txBody>
          <a:bodyPr wrap="square" lIns="0" tIns="0" rIns="0" bIns="0" rtlCol="0" anchor="ctr"/>
          <a:lstStyle/>
          <a:p>
            <a:pPr indent="0" marL="0">
              <a:buNone/>
            </a:pPr>
            <a:r>
              <a:rPr lang="en-US" sz="1400" dirty="0">
                <a:solidFill>
                  <a:schemeClr val="accent6"/>
                </a:solidFill>
              </a:rPr>
              <a:t>ID number</a:t>
            </a:r>
            <a:endParaRPr lang="en-US" sz="1400" dirty="0"/>
          </a:p>
        </p:txBody>
      </p:sp>
      <p:sp>
        <p:nvSpPr>
          <p:cNvPr id="12" name="Text 9"/>
          <p:cNvSpPr txBox="1"/>
          <p:nvPr/>
        </p:nvSpPr>
        <p:spPr>
          <a:xfrm>
            <a:off x="8869680" y="2834640"/>
            <a:ext cx="2377440" cy="365760"/>
          </a:xfrm>
          <a:prstGeom prst="rect">
            <a:avLst/>
          </a:prstGeom>
          <a:noFill/>
          <a:ln/>
        </p:spPr>
        <p:txBody>
          <a:bodyPr wrap="square" lIns="0" tIns="0" rIns="0" bIns="0" rtlCol="0" anchor="ctr"/>
          <a:lstStyle/>
          <a:p>
            <a:pPr indent="0" marL="0">
              <a:buNone/>
            </a:pPr>
            <a:r>
              <a:rPr lang="en-US" sz="1400" dirty="0">
                <a:solidFill>
                  <a:schemeClr val="tx1"/>
                </a:solidFill>
              </a:rPr>
              <a:t>•••• •• 9012</a:t>
            </a:r>
            <a:endParaRPr lang="en-US" sz="1400" dirty="0"/>
          </a:p>
        </p:txBody>
      </p:sp>
      <p:sp>
        <p:nvSpPr>
          <p:cNvPr id="13" name="Text 10"/>
          <p:cNvSpPr txBox="1"/>
          <p:nvPr/>
        </p:nvSpPr>
        <p:spPr>
          <a:xfrm>
            <a:off x="6766560" y="3291840"/>
            <a:ext cx="2011680" cy="365760"/>
          </a:xfrm>
          <a:prstGeom prst="rect">
            <a:avLst/>
          </a:prstGeom>
          <a:noFill/>
          <a:ln/>
        </p:spPr>
        <p:txBody>
          <a:bodyPr wrap="square" lIns="0" tIns="0" rIns="0" bIns="0" rtlCol="0" anchor="ctr"/>
          <a:lstStyle/>
          <a:p>
            <a:pPr indent="0" marL="0">
              <a:buNone/>
            </a:pPr>
            <a:r>
              <a:rPr lang="en-US" sz="1400" dirty="0">
                <a:solidFill>
                  <a:schemeClr val="accent6"/>
                </a:solidFill>
              </a:rPr>
              <a:t>Date of birth</a:t>
            </a:r>
            <a:endParaRPr lang="en-US" sz="1400" dirty="0"/>
          </a:p>
        </p:txBody>
      </p:sp>
      <p:sp>
        <p:nvSpPr>
          <p:cNvPr id="14" name="Text 11"/>
          <p:cNvSpPr txBox="1"/>
          <p:nvPr/>
        </p:nvSpPr>
        <p:spPr>
          <a:xfrm>
            <a:off x="8869680" y="3291840"/>
            <a:ext cx="2377440" cy="365760"/>
          </a:xfrm>
          <a:prstGeom prst="rect">
            <a:avLst/>
          </a:prstGeom>
          <a:noFill/>
          <a:ln/>
        </p:spPr>
        <p:txBody>
          <a:bodyPr wrap="square" lIns="0" tIns="0" rIns="0" bIns="0" rtlCol="0" anchor="ctr"/>
          <a:lstStyle/>
          <a:p>
            <a:pPr indent="0" marL="0">
              <a:buNone/>
            </a:pPr>
            <a:r>
              <a:rPr lang="en-US" sz="1400" dirty="0">
                <a:solidFill>
                  <a:schemeClr val="tx1"/>
                </a:solidFill>
              </a:rPr>
              <a:t>Hidden</a:t>
            </a:r>
            <a:endParaRPr lang="en-US" sz="1400" dirty="0"/>
          </a:p>
        </p:txBody>
      </p:sp>
      <p:sp>
        <p:nvSpPr>
          <p:cNvPr id="15" name="Text 12"/>
          <p:cNvSpPr txBox="1"/>
          <p:nvPr/>
        </p:nvSpPr>
        <p:spPr>
          <a:xfrm>
            <a:off x="6766560" y="3749040"/>
            <a:ext cx="2011680" cy="365760"/>
          </a:xfrm>
          <a:prstGeom prst="rect">
            <a:avLst/>
          </a:prstGeom>
          <a:noFill/>
          <a:ln/>
        </p:spPr>
        <p:txBody>
          <a:bodyPr wrap="square" lIns="0" tIns="0" rIns="0" bIns="0" rtlCol="0" anchor="ctr"/>
          <a:lstStyle/>
          <a:p>
            <a:pPr indent="0" marL="0">
              <a:buNone/>
            </a:pPr>
            <a:r>
              <a:rPr lang="en-US" sz="1400" dirty="0">
                <a:solidFill>
                  <a:schemeClr val="accent6"/>
                </a:solidFill>
              </a:rPr>
              <a:t>Parent or guardian</a:t>
            </a:r>
            <a:endParaRPr lang="en-US" sz="1400" dirty="0"/>
          </a:p>
        </p:txBody>
      </p:sp>
      <p:sp>
        <p:nvSpPr>
          <p:cNvPr id="16" name="Text 13"/>
          <p:cNvSpPr txBox="1"/>
          <p:nvPr/>
        </p:nvSpPr>
        <p:spPr>
          <a:xfrm>
            <a:off x="8869680" y="3749040"/>
            <a:ext cx="2377440" cy="365760"/>
          </a:xfrm>
          <a:prstGeom prst="rect">
            <a:avLst/>
          </a:prstGeom>
          <a:noFill/>
          <a:ln/>
        </p:spPr>
        <p:txBody>
          <a:bodyPr wrap="square" lIns="0" tIns="0" rIns="0" bIns="0" rtlCol="0" anchor="ctr"/>
          <a:lstStyle/>
          <a:p>
            <a:pPr indent="0" marL="0">
              <a:buNone/>
            </a:pPr>
            <a:r>
              <a:rPr lang="en-US" sz="1400" dirty="0">
                <a:solidFill>
                  <a:schemeClr val="tx1"/>
                </a:solidFill>
              </a:rPr>
              <a:t>Hidden</a:t>
            </a:r>
            <a:endParaRPr lang="en-US" sz="1400" dirty="0"/>
          </a:p>
        </p:txBody>
      </p:sp>
      <p:sp>
        <p:nvSpPr>
          <p:cNvPr id="17" name="Text 14"/>
          <p:cNvSpPr txBox="1"/>
          <p:nvPr/>
        </p:nvSpPr>
        <p:spPr>
          <a:xfrm>
            <a:off x="6766560" y="4206240"/>
            <a:ext cx="2011680" cy="365760"/>
          </a:xfrm>
          <a:prstGeom prst="rect">
            <a:avLst/>
          </a:prstGeom>
          <a:noFill/>
          <a:ln/>
        </p:spPr>
        <p:txBody>
          <a:bodyPr wrap="square" lIns="0" tIns="0" rIns="0" bIns="0" rtlCol="0" anchor="ctr"/>
          <a:lstStyle/>
          <a:p>
            <a:pPr indent="0" marL="0">
              <a:buNone/>
            </a:pPr>
            <a:r>
              <a:rPr lang="en-US" sz="1400" dirty="0">
                <a:solidFill>
                  <a:schemeClr val="accent6"/>
                </a:solidFill>
              </a:rPr>
              <a:t>E-mail and phone</a:t>
            </a:r>
            <a:endParaRPr lang="en-US" sz="1400" dirty="0"/>
          </a:p>
        </p:txBody>
      </p:sp>
      <p:sp>
        <p:nvSpPr>
          <p:cNvPr id="18" name="Text 15"/>
          <p:cNvSpPr txBox="1"/>
          <p:nvPr/>
        </p:nvSpPr>
        <p:spPr>
          <a:xfrm>
            <a:off x="8869680" y="4206240"/>
            <a:ext cx="2377440" cy="365760"/>
          </a:xfrm>
          <a:prstGeom prst="rect">
            <a:avLst/>
          </a:prstGeom>
          <a:noFill/>
          <a:ln/>
        </p:spPr>
        <p:txBody>
          <a:bodyPr wrap="square" lIns="0" tIns="0" rIns="0" bIns="0" rtlCol="0" anchor="ctr"/>
          <a:lstStyle/>
          <a:p>
            <a:pPr indent="0" marL="0">
              <a:buNone/>
            </a:pPr>
            <a:r>
              <a:rPr lang="en-US" sz="1400" dirty="0">
                <a:solidFill>
                  <a:schemeClr val="tx1"/>
                </a:solidFill>
              </a:rPr>
              <a:t>Hidden</a:t>
            </a:r>
            <a:endParaRPr lang="en-US" sz="1400" dirty="0"/>
          </a:p>
        </p:txBody>
      </p:sp>
      <p:sp>
        <p:nvSpPr>
          <p:cNvPr id="19" name="Shape 16"/>
          <p:cNvSpPr/>
          <p:nvPr/>
        </p:nvSpPr>
        <p:spPr>
          <a:xfrm>
            <a:off x="6766560" y="4800600"/>
            <a:ext cx="1371600" cy="457200"/>
          </a:xfrm>
          <a:prstGeom prst="roundRect">
            <a:avLst>
              <a:gd name="adj" fmla="val 16000"/>
            </a:avLst>
          </a:prstGeom>
          <a:solidFill>
            <a:schemeClr val="bg1"/>
          </a:solidFill>
          <a:ln w="12700">
            <a:solidFill>
              <a:schemeClr val="accent6"/>
            </a:solidFill>
            <a:prstDash val="solid"/>
          </a:ln>
        </p:spPr>
      </p:sp>
      <p:sp>
        <p:nvSpPr>
          <p:cNvPr id="20" name="Text 17"/>
          <p:cNvSpPr txBox="1"/>
          <p:nvPr/>
        </p:nvSpPr>
        <p:spPr>
          <a:xfrm>
            <a:off x="6766560" y="4800600"/>
            <a:ext cx="1371600" cy="457200"/>
          </a:xfrm>
          <a:prstGeom prst="rect">
            <a:avLst/>
          </a:prstGeom>
          <a:noFill/>
          <a:ln/>
        </p:spPr>
        <p:txBody>
          <a:bodyPr wrap="square" lIns="0" tIns="0" rIns="0" bIns="0" rtlCol="0" anchor="ctr"/>
          <a:lstStyle/>
          <a:p>
            <a:pPr algn="ctr" indent="0" marL="0">
              <a:buNone/>
            </a:pPr>
            <a:r>
              <a:rPr lang="en-US" sz="1200" b="1" dirty="0">
                <a:solidFill>
                  <a:schemeClr val="tx1"/>
                </a:solidFill>
              </a:rPr>
              <a:t>Reveal (logged)</a:t>
            </a:r>
            <a:endParaRPr lang="en-US" sz="1200" dirty="0"/>
          </a:p>
        </p:txBody>
      </p:sp>
      <p:sp>
        <p:nvSpPr>
          <p:cNvPr id="21" name="Shape 18"/>
          <p:cNvSpPr/>
          <p:nvPr/>
        </p:nvSpPr>
        <p:spPr>
          <a:xfrm>
            <a:off x="8686800" y="4800600"/>
            <a:ext cx="1097280" cy="457200"/>
          </a:xfrm>
          <a:prstGeom prst="roundRect">
            <a:avLst>
              <a:gd name="adj" fmla="val 16000"/>
            </a:avLst>
          </a:prstGeom>
          <a:solidFill>
            <a:schemeClr val="accent3"/>
          </a:solidFill>
          <a:ln/>
        </p:spPr>
      </p:sp>
      <p:sp>
        <p:nvSpPr>
          <p:cNvPr id="22" name="Text 19"/>
          <p:cNvSpPr txBox="1"/>
          <p:nvPr/>
        </p:nvSpPr>
        <p:spPr>
          <a:xfrm>
            <a:off x="8686800" y="4800600"/>
            <a:ext cx="1097280" cy="457200"/>
          </a:xfrm>
          <a:prstGeom prst="rect">
            <a:avLst/>
          </a:prstGeom>
          <a:noFill/>
          <a:ln/>
        </p:spPr>
        <p:txBody>
          <a:bodyPr wrap="square" lIns="0" tIns="0" rIns="0" bIns="0" rtlCol="0" anchor="ctr"/>
          <a:lstStyle/>
          <a:p>
            <a:pPr algn="ctr" indent="0" marL="0">
              <a:buNone/>
            </a:pPr>
            <a:r>
              <a:rPr lang="en-US" sz="1300" b="1" dirty="0">
                <a:solidFill>
                  <a:schemeClr val="bg1"/>
                </a:solidFill>
              </a:rPr>
              <a:t>Approve</a:t>
            </a:r>
            <a:endParaRPr lang="en-US" sz="1300" dirty="0"/>
          </a:p>
        </p:txBody>
      </p:sp>
      <p:sp>
        <p:nvSpPr>
          <p:cNvPr id="23" name="Shape 20"/>
          <p:cNvSpPr/>
          <p:nvPr/>
        </p:nvSpPr>
        <p:spPr>
          <a:xfrm>
            <a:off x="9966960" y="4800600"/>
            <a:ext cx="1097280" cy="457200"/>
          </a:xfrm>
          <a:prstGeom prst="roundRect">
            <a:avLst>
              <a:gd name="adj" fmla="val 16000"/>
            </a:avLst>
          </a:prstGeom>
          <a:solidFill>
            <a:schemeClr val="accent2"/>
          </a:solidFill>
          <a:ln/>
        </p:spPr>
      </p:sp>
      <p:sp>
        <p:nvSpPr>
          <p:cNvPr id="24" name="Text 21"/>
          <p:cNvSpPr txBox="1"/>
          <p:nvPr/>
        </p:nvSpPr>
        <p:spPr>
          <a:xfrm>
            <a:off x="9966960" y="4800600"/>
            <a:ext cx="1097280" cy="457200"/>
          </a:xfrm>
          <a:prstGeom prst="rect">
            <a:avLst/>
          </a:prstGeom>
          <a:noFill/>
          <a:ln/>
        </p:spPr>
        <p:txBody>
          <a:bodyPr wrap="square" lIns="0" tIns="0" rIns="0" bIns="0" rtlCol="0" anchor="ctr"/>
          <a:lstStyle/>
          <a:p>
            <a:pPr algn="ctr" indent="0" marL="0">
              <a:buNone/>
            </a:pPr>
            <a:r>
              <a:rPr lang="en-US" sz="1300" b="1" dirty="0">
                <a:solidFill>
                  <a:schemeClr val="bg1"/>
                </a:solidFill>
              </a:rPr>
              <a:t>Reject</a:t>
            </a:r>
            <a:endParaRPr lang="en-US" sz="1300" dirty="0"/>
          </a:p>
        </p:txBody>
      </p:sp>
      <p:sp>
        <p:nvSpPr>
          <p:cNvPr id="25" name="Text 22"/>
          <p:cNvSpPr txBox="1"/>
          <p:nvPr/>
        </p:nvSpPr>
        <p:spPr>
          <a:xfrm>
            <a:off x="6492240" y="5797296"/>
            <a:ext cx="5029200" cy="256032"/>
          </a:xfrm>
          <a:prstGeom prst="rect">
            <a:avLst/>
          </a:prstGeom>
          <a:noFill/>
          <a:ln/>
        </p:spPr>
        <p:txBody>
          <a:bodyPr wrap="square" lIns="0" tIns="0" rIns="0" bIns="0" rtlCol="0" anchor="ctr"/>
          <a:lstStyle/>
          <a:p>
            <a:pPr indent="0" marL="0">
              <a:buNone/>
            </a:pPr>
            <a:r>
              <a:rPr lang="en-US" sz="1100" i="1" dirty="0">
                <a:solidFill>
                  <a:schemeClr val="accent6"/>
                </a:solidFill>
              </a:rPr>
              <a:t>Illustration: no customer data is shown</a:t>
            </a:r>
            <a:endParaRPr lang="en-US" sz="11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22960" y="2377440"/>
            <a:ext cx="9601200" cy="1097280"/>
          </a:xfrm>
          <a:prstGeom prst="rect">
            <a:avLst/>
          </a:prstGeom>
          <a:noFill/>
          <a:ln/>
        </p:spPr>
        <p:txBody>
          <a:bodyPr wrap="square" lIns="0" tIns="0" rIns="0" bIns="0" rtlCol="0" anchor="t"/>
          <a:lstStyle/>
          <a:p>
            <a:pPr algn="l" indent="0" marL="0">
              <a:buNone/>
            </a:pPr>
            <a:r>
              <a:rPr lang="en-US" sz="4800" b="1" dirty="0">
                <a:solidFill>
                  <a:schemeClr val="bg1"/>
                </a:solidFill>
                <a:latin typeface="+mj-lt" pitchFamily="34" charset="0"/>
                <a:ea typeface="+mj-lt" pitchFamily="34" charset="-122"/>
                <a:cs typeface="+mj-lt" pitchFamily="34" charset="-120"/>
              </a:rPr>
              <a:t>Controls and BNM expectations</a:t>
            </a:r>
            <a:endParaRPr lang="en-US" sz="4800" dirty="0"/>
          </a:p>
        </p:txBody>
      </p:sp>
      <p:sp>
        <p:nvSpPr>
          <p:cNvPr id="3" name="Text 1"/>
          <p:cNvSpPr/>
          <p:nvPr/>
        </p:nvSpPr>
        <p:spPr>
          <a:xfrm>
            <a:off x="822960" y="3611880"/>
            <a:ext cx="8778240" cy="1280160"/>
          </a:xfrm>
          <a:prstGeom prst="rect">
            <a:avLst/>
          </a:prstGeom>
          <a:noFill/>
          <a:ln/>
        </p:spPr>
        <p:txBody>
          <a:bodyPr wrap="square" lIns="0" tIns="0" rIns="0" bIns="0" rtlCol="0" anchor="t"/>
          <a:lstStyle/>
          <a:p>
            <a:pPr algn="l" indent="0" marL="0">
              <a:buNone/>
            </a:pPr>
            <a:r>
              <a:rPr lang="en-US" sz="2200" dirty="0">
                <a:solidFill>
                  <a:schemeClr val="bg2"/>
                </a:solidFill>
              </a:rPr>
              <a:t>How Halo supports the technology-risk requirements Bank Negara Malaysia sets, and where responsibility stays with the institution</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Access that is configurable and enforced in the database</a:t>
            </a:r>
            <a:endParaRPr lang="en-US" sz="3200" dirty="0"/>
          </a:p>
        </p:txBody>
      </p:sp>
      <p:sp>
        <p:nvSpPr>
          <p:cNvPr id="4" name="Text 1"/>
          <p:cNvSpPr txBox="1"/>
          <p:nvPr/>
        </p:nvSpPr>
        <p:spPr>
          <a:xfrm>
            <a:off x="548640" y="1554480"/>
            <a:ext cx="4754880" cy="457200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chemeClr val="tx1"/>
                </a:solidFill>
              </a:rPr>
              <a:t>A capability matrix by role, with custom roles such as Compliance Officer and Head of Compliance, and add-on roles that only ever add permissions.</a:t>
            </a:r>
            <a:endParaRPr lang="en-US" sz="1500" dirty="0"/>
          </a:p>
          <a:p>
            <a:pPr marL="228600" indent="-228600">
              <a:spcAft>
                <a:spcPts val="900"/>
              </a:spcAft>
              <a:buSzPct val="100000"/>
              <a:buChar char="•"/>
            </a:pPr>
            <a:r>
              <a:rPr lang="en-US" sz="1500" dirty="0">
                <a:solidFill>
                  <a:schemeClr val="tx1"/>
                </a:solidFill>
              </a:rPr>
              <a:t>Each switch is tagged App or Database + App. Database + App cannot be bypassed by calling the database directly.</a:t>
            </a:r>
            <a:endParaRPr lang="en-US" sz="1500" dirty="0"/>
          </a:p>
          <a:p>
            <a:pPr marL="228600" indent="-228600">
              <a:spcAft>
                <a:spcPts val="900"/>
              </a:spcAft>
              <a:buSzPct val="100000"/>
              <a:buChar char="•"/>
            </a:pPr>
            <a:r>
              <a:rPr lang="en-US" sz="1500" dirty="0">
                <a:solidFill>
                  <a:schemeClr val="tx1"/>
                </a:solidFill>
              </a:rPr>
              <a:t>Sensitive modules (incidents, compliance, eKYC) are switched off until the operator enables them, and no role holds their permissions by default except Owner and Admin.</a:t>
            </a:r>
            <a:endParaRPr lang="en-US" sz="1500" dirty="0"/>
          </a:p>
          <a:p>
            <a:pPr marL="228600" indent="-228600">
              <a:spcAft>
                <a:spcPts val="900"/>
              </a:spcAft>
              <a:buSzPct val="100000"/>
              <a:buChar char="•"/>
            </a:pPr>
            <a:r>
              <a:rPr lang="en-US" sz="1500" dirty="0">
                <a:solidFill>
                  <a:schemeClr val="tx1"/>
                </a:solidFill>
              </a:rPr>
              <a:t>Platform operators cannot read a customer workspace.</a:t>
            </a:r>
            <a:endParaRPr lang="en-US" sz="1500" dirty="0"/>
          </a:p>
        </p:txBody>
      </p:sp>
      <p:sp>
        <p:nvSpPr>
          <p:cNvPr id="5" name="frame s_roles"/>
          <p:cNvSpPr/>
          <p:nvPr/>
        </p:nvSpPr>
        <p:spPr>
          <a:xfrm>
            <a:off x="5596128" y="1527048"/>
            <a:ext cx="6089904" cy="4271703"/>
          </a:xfrm>
          <a:prstGeom prst="roundRect">
            <a:avLst>
              <a:gd name="adj" fmla="val 2141"/>
            </a:avLst>
          </a:prstGeom>
          <a:solidFill>
            <a:schemeClr val="bg1"/>
          </a:solidFill>
          <a:ln w="12700">
            <a:solidFill>
              <a:srgbClr val="D9D4F2"/>
            </a:solidFill>
            <a:prstDash val="solid"/>
          </a:ln>
          <a:effectLst>
            <a:outerShdw sx="100000" sy="100000" kx="0" ky="0" algn="bl" rotWithShape="0" blurRad="101600" dist="25400" dir="5400000">
              <a:srgbClr val="2B2566">
                <a:alpha val="14000"/>
              </a:srgbClr>
            </a:outerShdw>
          </a:effectLst>
        </p:spPr>
      </p:sp>
      <p:pic>
        <p:nvPicPr>
          <p:cNvPr id="6" name="screen s_roles" descr="Settings: roles and permissions">    </p:cNvPr>
          <p:cNvPicPr>
            <a:picLocks noChangeAspect="1"/>
          </p:cNvPicPr>
          <p:nvPr/>
        </p:nvPicPr>
        <p:blipFill>
          <a:blip r:embed="rId1"/>
          <a:stretch>
            <a:fillRect/>
          </a:stretch>
        </p:blipFill>
        <p:spPr>
          <a:xfrm>
            <a:off x="5669280" y="1600200"/>
            <a:ext cx="5943600" cy="4125399"/>
          </a:xfrm>
          <a:prstGeom prst="rect">
            <a:avLst/>
          </a:prstGeom>
        </p:spPr>
      </p:pic>
      <p:sp>
        <p:nvSpPr>
          <p:cNvPr id="7" name="Text 3"/>
          <p:cNvSpPr txBox="1"/>
          <p:nvPr/>
        </p:nvSpPr>
        <p:spPr>
          <a:xfrm>
            <a:off x="5596128" y="5853615"/>
            <a:ext cx="6089904" cy="256032"/>
          </a:xfrm>
          <a:prstGeom prst="rect">
            <a:avLst/>
          </a:prstGeom>
          <a:noFill/>
          <a:ln/>
        </p:spPr>
        <p:txBody>
          <a:bodyPr wrap="square" lIns="0" tIns="0" rIns="0" bIns="0" rtlCol="0" anchor="ctr"/>
          <a:lstStyle/>
          <a:p>
            <a:pPr indent="0" marL="0">
              <a:buNone/>
            </a:pPr>
            <a:r>
              <a:rPr lang="en-US" sz="1100" i="1" dirty="0">
                <a:solidFill>
                  <a:schemeClr val="accent6"/>
                </a:solidFill>
              </a:rPr>
              <a:t>Settings: roles and permissions</a:t>
            </a:r>
            <a:endParaRPr lang="en-US" sz="11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Tamper-resistant records, and data you can export or erase</a:t>
            </a:r>
            <a:endParaRPr lang="en-US" sz="3200" dirty="0"/>
          </a:p>
        </p:txBody>
      </p:sp>
      <p:sp>
        <p:nvSpPr>
          <p:cNvPr id="4" name="icon bg Append-only audit trails"/>
          <p:cNvSpPr/>
          <p:nvPr/>
        </p:nvSpPr>
        <p:spPr>
          <a:xfrm>
            <a:off x="548640" y="1554480"/>
            <a:ext cx="566928" cy="56692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685800" y="1691640"/>
            <a:ext cx="292608" cy="292608"/>
          </a:xfrm>
          <a:prstGeom prst="rect">
            <a:avLst/>
          </a:prstGeom>
        </p:spPr>
      </p:pic>
      <p:sp>
        <p:nvSpPr>
          <p:cNvPr id="6" name="Text 2"/>
          <p:cNvSpPr txBox="1"/>
          <p:nvPr/>
        </p:nvSpPr>
        <p:spPr>
          <a:xfrm>
            <a:off x="1325880" y="1508760"/>
            <a:ext cx="3794760" cy="12801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Append-only audit trails</a:t>
            </a:r>
            <a:endParaRPr lang="en-US" sz="1800" dirty="0"/>
          </a:p>
          <a:p>
            <a:pPr indent="0" marL="0">
              <a:spcAft>
                <a:spcPts val="300"/>
              </a:spcAft>
              <a:buNone/>
            </a:pPr>
            <a:r>
              <a:rPr lang="en-US" sz="1400" dirty="0">
                <a:solidFill>
                  <a:schemeClr val="tx2"/>
                </a:solidFill>
              </a:rPr>
              <a:t>The audit log, KYC access log, compliance timeline and incident history cannot be updated or deleted, even by the service role.</a:t>
            </a:r>
            <a:endParaRPr lang="en-US" sz="1800" dirty="0"/>
          </a:p>
        </p:txBody>
      </p:sp>
      <p:sp>
        <p:nvSpPr>
          <p:cNvPr id="7" name="icon bg Audited support access"/>
          <p:cNvSpPr/>
          <p:nvPr/>
        </p:nvSpPr>
        <p:spPr>
          <a:xfrm>
            <a:off x="548640" y="2880360"/>
            <a:ext cx="566928" cy="566928"/>
          </a:xfrm>
          <a:prstGeom prst="ellipse">
            <a:avLst/>
          </a:prstGeom>
          <a:solidFill>
            <a:schemeClr val="accent3"/>
          </a:solidFill>
          <a:ln/>
        </p:spPr>
      </p:sp>
      <p:pic>
        <p:nvPicPr>
          <p:cNvPr id="8" name="Image 1" descr="preencoded.png">    </p:cNvPr>
          <p:cNvPicPr>
            <a:picLocks noChangeAspect="1"/>
          </p:cNvPicPr>
          <p:nvPr/>
        </p:nvPicPr>
        <p:blipFill>
          <a:blip r:embed="rId2"/>
          <a:stretch>
            <a:fillRect/>
          </a:stretch>
        </p:blipFill>
        <p:spPr>
          <a:xfrm>
            <a:off x="685800" y="3017520"/>
            <a:ext cx="292608" cy="292608"/>
          </a:xfrm>
          <a:prstGeom prst="rect">
            <a:avLst/>
          </a:prstGeom>
        </p:spPr>
      </p:pic>
      <p:sp>
        <p:nvSpPr>
          <p:cNvPr id="9" name="Text 4"/>
          <p:cNvSpPr txBox="1"/>
          <p:nvPr/>
        </p:nvSpPr>
        <p:spPr>
          <a:xfrm>
            <a:off x="1325880" y="2834640"/>
            <a:ext cx="3794760" cy="12801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Audited support access</a:t>
            </a:r>
            <a:endParaRPr lang="en-US" sz="1800" dirty="0"/>
          </a:p>
          <a:p>
            <a:pPr indent="0" marL="0">
              <a:spcAft>
                <a:spcPts val="300"/>
              </a:spcAft>
              <a:buNone/>
            </a:pPr>
            <a:r>
              <a:rPr lang="en-US" sz="1400" dirty="0">
                <a:solidFill>
                  <a:schemeClr val="tx2"/>
                </a:solidFill>
              </a:rPr>
              <a:t>Operators see diagnostics only, only while the owner allows it (1 hour to 7 days), and every look is logged.</a:t>
            </a:r>
            <a:endParaRPr lang="en-US" sz="1800" dirty="0"/>
          </a:p>
        </p:txBody>
      </p:sp>
      <p:sp>
        <p:nvSpPr>
          <p:cNvPr id="10" name="icon bg Export and erasure"/>
          <p:cNvSpPr/>
          <p:nvPr/>
        </p:nvSpPr>
        <p:spPr>
          <a:xfrm>
            <a:off x="548640" y="4206240"/>
            <a:ext cx="566928" cy="566928"/>
          </a:xfrm>
          <a:prstGeom prst="ellipse">
            <a:avLst/>
          </a:prstGeom>
          <a:solidFill>
            <a:schemeClr val="accent5"/>
          </a:solidFill>
          <a:ln/>
        </p:spPr>
      </p:sp>
      <p:pic>
        <p:nvPicPr>
          <p:cNvPr id="11" name="Image 2" descr="preencoded.png">    </p:cNvPr>
          <p:cNvPicPr>
            <a:picLocks noChangeAspect="1"/>
          </p:cNvPicPr>
          <p:nvPr/>
        </p:nvPicPr>
        <p:blipFill>
          <a:blip r:embed="rId3"/>
          <a:stretch>
            <a:fillRect/>
          </a:stretch>
        </p:blipFill>
        <p:spPr>
          <a:xfrm>
            <a:off x="685800" y="4343400"/>
            <a:ext cx="292608" cy="292608"/>
          </a:xfrm>
          <a:prstGeom prst="rect">
            <a:avLst/>
          </a:prstGeom>
        </p:spPr>
      </p:pic>
      <p:sp>
        <p:nvSpPr>
          <p:cNvPr id="12" name="Text 6"/>
          <p:cNvSpPr txBox="1"/>
          <p:nvPr/>
        </p:nvSpPr>
        <p:spPr>
          <a:xfrm>
            <a:off x="1325880" y="4160520"/>
            <a:ext cx="3794760" cy="109728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Export and erasure</a:t>
            </a:r>
            <a:endParaRPr lang="en-US" sz="1800" dirty="0"/>
          </a:p>
          <a:p>
            <a:pPr indent="0" marL="0">
              <a:spcAft>
                <a:spcPts val="300"/>
              </a:spcAft>
              <a:buNone/>
            </a:pPr>
            <a:r>
              <a:rPr lang="en-US" sz="1400" dirty="0">
                <a:solidFill>
                  <a:schemeClr val="tx2"/>
                </a:solidFill>
              </a:rPr>
              <a:t>The owner can export the workspace as a zip and request deletion after a 30-day grace period.</a:t>
            </a:r>
            <a:endParaRPr lang="en-US" sz="1800" dirty="0"/>
          </a:p>
        </p:txBody>
      </p:sp>
      <p:sp>
        <p:nvSpPr>
          <p:cNvPr id="13" name="icon bg Key lifecycle"/>
          <p:cNvSpPr/>
          <p:nvPr/>
        </p:nvSpPr>
        <p:spPr>
          <a:xfrm>
            <a:off x="548640" y="5349240"/>
            <a:ext cx="566928" cy="566928"/>
          </a:xfrm>
          <a:prstGeom prst="ellipse">
            <a:avLst/>
          </a:prstGeom>
          <a:solidFill>
            <a:schemeClr val="accent2"/>
          </a:solidFill>
          <a:ln/>
        </p:spPr>
      </p:sp>
      <p:pic>
        <p:nvPicPr>
          <p:cNvPr id="14" name="Image 3" descr="preencoded.png">    </p:cNvPr>
          <p:cNvPicPr>
            <a:picLocks noChangeAspect="1"/>
          </p:cNvPicPr>
          <p:nvPr/>
        </p:nvPicPr>
        <p:blipFill>
          <a:blip r:embed="rId4"/>
          <a:stretch>
            <a:fillRect/>
          </a:stretch>
        </p:blipFill>
        <p:spPr>
          <a:xfrm>
            <a:off x="685800" y="5486400"/>
            <a:ext cx="292608" cy="292608"/>
          </a:xfrm>
          <a:prstGeom prst="rect">
            <a:avLst/>
          </a:prstGeom>
        </p:spPr>
      </p:pic>
      <p:sp>
        <p:nvSpPr>
          <p:cNvPr id="15" name="Text 8"/>
          <p:cNvSpPr txBox="1"/>
          <p:nvPr/>
        </p:nvSpPr>
        <p:spPr>
          <a:xfrm>
            <a:off x="1325880" y="5303520"/>
            <a:ext cx="3794760" cy="91440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Key lifecycle</a:t>
            </a:r>
            <a:endParaRPr lang="en-US" sz="1800" dirty="0"/>
          </a:p>
          <a:p>
            <a:pPr indent="0" marL="0">
              <a:spcAft>
                <a:spcPts val="300"/>
              </a:spcAft>
              <a:buNone/>
            </a:pPr>
            <a:r>
              <a:rPr lang="en-US" sz="1400" dirty="0">
                <a:solidFill>
                  <a:schemeClr val="tx2"/>
                </a:solidFill>
              </a:rPr>
              <a:t>Stored secrets use AES-256-GCM; keys rotate without reconnecting a channel.</a:t>
            </a:r>
            <a:endParaRPr lang="en-US" sz="1800" dirty="0"/>
          </a:p>
        </p:txBody>
      </p:sp>
      <p:sp>
        <p:nvSpPr>
          <p:cNvPr id="16" name="frame s_audit"/>
          <p:cNvSpPr/>
          <p:nvPr/>
        </p:nvSpPr>
        <p:spPr>
          <a:xfrm>
            <a:off x="5367528" y="1572768"/>
            <a:ext cx="6318504" cy="3897318"/>
          </a:xfrm>
          <a:prstGeom prst="roundRect">
            <a:avLst>
              <a:gd name="adj" fmla="val 2346"/>
            </a:avLst>
          </a:prstGeom>
          <a:solidFill>
            <a:schemeClr val="bg1"/>
          </a:solidFill>
          <a:ln w="12700">
            <a:solidFill>
              <a:srgbClr val="D9D4F2"/>
            </a:solidFill>
            <a:prstDash val="solid"/>
          </a:ln>
          <a:effectLst>
            <a:outerShdw sx="100000" sy="100000" kx="0" ky="0" algn="bl" rotWithShape="0" blurRad="101600" dist="25400" dir="5400000">
              <a:srgbClr val="2B2566">
                <a:alpha val="14000"/>
              </a:srgbClr>
            </a:outerShdw>
          </a:effectLst>
        </p:spPr>
      </p:sp>
      <p:pic>
        <p:nvPicPr>
          <p:cNvPr id="17" name="screen s_audit" descr="Settings: audit log, who did what and when (names masked)">    </p:cNvPr>
          <p:cNvPicPr>
            <a:picLocks noChangeAspect="1"/>
          </p:cNvPicPr>
          <p:nvPr/>
        </p:nvPicPr>
        <p:blipFill>
          <a:blip r:embed="rId5"/>
          <a:stretch>
            <a:fillRect/>
          </a:stretch>
        </p:blipFill>
        <p:spPr>
          <a:xfrm>
            <a:off x="5440680" y="1645920"/>
            <a:ext cx="6172200" cy="3751014"/>
          </a:xfrm>
          <a:prstGeom prst="rect">
            <a:avLst/>
          </a:prstGeom>
        </p:spPr>
      </p:pic>
      <p:sp>
        <p:nvSpPr>
          <p:cNvPr id="18" name="Text 10"/>
          <p:cNvSpPr txBox="1"/>
          <p:nvPr/>
        </p:nvSpPr>
        <p:spPr>
          <a:xfrm>
            <a:off x="5367528" y="5524950"/>
            <a:ext cx="6318504" cy="256032"/>
          </a:xfrm>
          <a:prstGeom prst="rect">
            <a:avLst/>
          </a:prstGeom>
          <a:noFill/>
          <a:ln/>
        </p:spPr>
        <p:txBody>
          <a:bodyPr wrap="square" lIns="0" tIns="0" rIns="0" bIns="0" rtlCol="0" anchor="ctr"/>
          <a:lstStyle/>
          <a:p>
            <a:pPr indent="0" marL="0">
              <a:buNone/>
            </a:pPr>
            <a:r>
              <a:rPr lang="en-US" sz="1100" i="1" dirty="0">
                <a:solidFill>
                  <a:schemeClr val="accent6"/>
                </a:solidFill>
              </a:rPr>
              <a:t>Settings: audit log, who did what and when (names masked)</a:t>
            </a:r>
            <a:endParaRPr lang="en-US" sz="11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BNM RMiT: access control and logging</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914400"/>
                <a:gridCol w="2926080"/>
                <a:gridCol w="4023360"/>
                <a:gridCol w="3200400"/>
              </a:tblGrid>
              <a:tr h="0">
                <a:tc>
                  <a:txBody>
                    <a:bodyPr/>
                    <a:lstStyle/>
                    <a:p>
                      <a:pPr indent="0" marL="0">
                        <a:buNone/>
                      </a:pPr>
                      <a:r>
                        <a:rPr lang="en-US" sz="1400" b="1" dirty="0">
                          <a:solidFill>
                            <a:srgbClr val="FFFFFF"/>
                          </a:solidFill>
                        </a:rPr>
                        <a:t>RMiT</a:t>
                      </a:r>
                      <a:endParaRPr lang="en-US" sz="1400" dirty="0"/>
                    </a:p>
                  </a:txBody>
                  <a:tcPr marL="91440" marR="91440" marT="54864" marB="54864" anchor="ctr">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2B2566"/>
                    </a:solidFill>
                  </a:tcPr>
                </a:tc>
                <a:tc>
                  <a:txBody>
                    <a:bodyPr/>
                    <a:lstStyle/>
                    <a:p>
                      <a:pPr indent="0" marL="0">
                        <a:buNone/>
                      </a:pPr>
                      <a:r>
                        <a:rPr lang="en-US" sz="1400" b="1" dirty="0">
                          <a:solidFill>
                            <a:srgbClr val="FFFFFF"/>
                          </a:solidFill>
                        </a:rPr>
                        <a:t>Requirement in brief</a:t>
                      </a:r>
                      <a:endParaRPr lang="en-US" sz="1400" dirty="0"/>
                    </a:p>
                  </a:txBody>
                  <a:tcPr marL="91440" marR="91440" marT="54864" marB="54864" anchor="ctr">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2B2566"/>
                    </a:solidFill>
                  </a:tcPr>
                </a:tc>
                <a:tc>
                  <a:txBody>
                    <a:bodyPr/>
                    <a:lstStyle/>
                    <a:p>
                      <a:pPr indent="0" marL="0">
                        <a:buNone/>
                      </a:pPr>
                      <a:r>
                        <a:rPr lang="en-US" sz="1400" b="1" dirty="0">
                          <a:solidFill>
                            <a:srgbClr val="FFFFFF"/>
                          </a:solidFill>
                        </a:rPr>
                        <a:t>How Halo supports it</a:t>
                      </a:r>
                      <a:endParaRPr lang="en-US" sz="1400" dirty="0"/>
                    </a:p>
                  </a:txBody>
                  <a:tcPr marL="91440" marR="91440" marT="54864" marB="54864" anchor="ctr">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2B2566"/>
                    </a:solidFill>
                  </a:tcPr>
                </a:tc>
                <a:tc>
                  <a:txBody>
                    <a:bodyPr/>
                    <a:lstStyle/>
                    <a:p>
                      <a:pPr indent="0" marL="0">
                        <a:buNone/>
                      </a:pPr>
                      <a:r>
                        <a:rPr lang="en-US" sz="1400" b="1" dirty="0">
                          <a:solidFill>
                            <a:srgbClr val="FFFFFF"/>
                          </a:solidFill>
                        </a:rPr>
                        <a:t>Stays with the institution</a:t>
                      </a:r>
                      <a:endParaRPr lang="en-US" sz="1400" dirty="0"/>
                    </a:p>
                  </a:txBody>
                  <a:tcPr marL="91440" marR="91440" marT="54864" marB="54864" anchor="ctr">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2B2566"/>
                    </a:solidFill>
                  </a:tcPr>
                </a:tc>
              </a:tr>
              <a:tr h="0">
                <a:tc>
                  <a:txBody>
                    <a:bodyPr/>
                    <a:lstStyle/>
                    <a:p>
                      <a:pPr indent="0" marL="0">
                        <a:buNone/>
                      </a:pPr>
                      <a:r>
                        <a:rPr lang="en-US" sz="1400" dirty="0">
                          <a:solidFill>
                            <a:srgbClr val="15122E"/>
                          </a:solidFill>
                        </a:rPr>
                        <a:t>S 10.53</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Access control policy for identification, authentication and authorisation</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Per-user sign-in; role-based authorisation enforced in screen, API and database</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Writing and approving the policy</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r>
              <a:tr h="0">
                <a:tc>
                  <a:txBody>
                    <a:bodyPr/>
                    <a:lstStyle/>
                    <a:p>
                      <a:pPr indent="0" marL="0">
                        <a:buNone/>
                      </a:pPr>
                      <a:r>
                        <a:rPr lang="en-US" sz="1400" dirty="0">
                          <a:solidFill>
                            <a:srgbClr val="15122E"/>
                          </a:solidFill>
                        </a:rPr>
                        <a:t>S 10.54</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Deny by default; least privilege; time-bound access; segregation of duties; dual authorisation</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Explicit capabilities; custom and add-on roles; time-boxed operator access; maker-checker on compliance sign-off</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Role design; time-bound access for staff</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5122E"/>
                          </a:solidFill>
                        </a:rPr>
                        <a:t>S 10.55</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Multi-factor authentication for critical systems</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Sign-in with Google or Microsoft work accounts, so the identity provider’s MFA applies</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Enforcing MFA: Halo does not require SSO or MFA itself</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r>
              <a:tr h="0">
                <a:tc>
                  <a:txBody>
                    <a:bodyPr/>
                    <a:lstStyle/>
                    <a:p>
                      <a:pPr indent="0" marL="0">
                        <a:buNone/>
                      </a:pPr>
                      <a:r>
                        <a:rPr lang="en-US" sz="1400" dirty="0">
                          <a:solidFill>
                            <a:srgbClr val="15122E"/>
                          </a:solidFill>
                        </a:rPr>
                        <a:t>S 10.56</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User access matrix, periodically reviewed</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Roles and permissions screen shows the matrix; changes are audit-logged</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Periodic review and approval</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5122E"/>
                          </a:solidFill>
                        </a:rPr>
                        <a:t>S 10.57</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Log user activity for audit; keep at least three years; review</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Append-only audit log, KYC access log, case and incident histories; CSV export</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Retention policy, log review, anomaly detection</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r>
            </a:tbl>
          </a:graphicData>
        </a:graphic>
      </p:graphicFrame>
      <p:sp>
        <p:nvSpPr>
          <p:cNvPr id="5" name="Text 1"/>
          <p:cNvSpPr txBox="1"/>
          <p:nvPr/>
        </p:nvSpPr>
        <p:spPr>
          <a:xfrm>
            <a:off x="548640" y="6126480"/>
            <a:ext cx="9144000" cy="274320"/>
          </a:xfrm>
          <a:prstGeom prst="rect">
            <a:avLst/>
          </a:prstGeom>
          <a:noFill/>
          <a:ln/>
        </p:spPr>
        <p:txBody>
          <a:bodyPr wrap="square" lIns="0" tIns="0" rIns="0" bIns="0" rtlCol="0" anchor="ctr"/>
          <a:lstStyle/>
          <a:p>
            <a:pPr indent="0" marL="0">
              <a:buNone/>
            </a:pPr>
            <a:r>
              <a:rPr lang="en-US" sz="1000" i="1" dirty="0">
                <a:solidFill>
                  <a:schemeClr val="accent6"/>
                </a:solidFill>
              </a:rPr>
              <a:t>Source: Bank Negara Malaysia, Risk Management in Technology (RMiT), issued 25 September 2026.</a:t>
            </a:r>
            <a:endParaRPr lang="en-US" sz="10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BNM RMiT: incident response and cryptography</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914400"/>
                <a:gridCol w="3200400"/>
                <a:gridCol w="4206240"/>
                <a:gridCol w="2743200"/>
              </a:tblGrid>
              <a:tr h="0">
                <a:tc>
                  <a:txBody>
                    <a:bodyPr/>
                    <a:lstStyle/>
                    <a:p>
                      <a:pPr indent="0" marL="0">
                        <a:buNone/>
                      </a:pPr>
                      <a:r>
                        <a:rPr lang="en-US" sz="1400" b="1" dirty="0">
                          <a:solidFill>
                            <a:srgbClr val="FFFFFF"/>
                          </a:solidFill>
                        </a:rPr>
                        <a:t>RMiT</a:t>
                      </a:r>
                      <a:endParaRPr lang="en-US" sz="1400" dirty="0"/>
                    </a:p>
                  </a:txBody>
                  <a:tcPr marL="91440" marR="91440" marT="54864" marB="54864" anchor="ctr">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2B2566"/>
                    </a:solidFill>
                  </a:tcPr>
                </a:tc>
                <a:tc>
                  <a:txBody>
                    <a:bodyPr/>
                    <a:lstStyle/>
                    <a:p>
                      <a:pPr indent="0" marL="0">
                        <a:buNone/>
                      </a:pPr>
                      <a:r>
                        <a:rPr lang="en-US" sz="1400" b="1" dirty="0">
                          <a:solidFill>
                            <a:srgbClr val="FFFFFF"/>
                          </a:solidFill>
                        </a:rPr>
                        <a:t>Requirement in brief</a:t>
                      </a:r>
                      <a:endParaRPr lang="en-US" sz="1400" dirty="0"/>
                    </a:p>
                  </a:txBody>
                  <a:tcPr marL="91440" marR="91440" marT="54864" marB="54864" anchor="ctr">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2B2566"/>
                    </a:solidFill>
                  </a:tcPr>
                </a:tc>
                <a:tc>
                  <a:txBody>
                    <a:bodyPr/>
                    <a:lstStyle/>
                    <a:p>
                      <a:pPr indent="0" marL="0">
                        <a:buNone/>
                      </a:pPr>
                      <a:r>
                        <a:rPr lang="en-US" sz="1400" b="1" dirty="0">
                          <a:solidFill>
                            <a:srgbClr val="FFFFFF"/>
                          </a:solidFill>
                        </a:rPr>
                        <a:t>How Halo supports it</a:t>
                      </a:r>
                      <a:endParaRPr lang="en-US" sz="1400" dirty="0"/>
                    </a:p>
                  </a:txBody>
                  <a:tcPr marL="91440" marR="91440" marT="54864" marB="54864" anchor="ctr">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2B2566"/>
                    </a:solidFill>
                  </a:tcPr>
                </a:tc>
                <a:tc>
                  <a:txBody>
                    <a:bodyPr/>
                    <a:lstStyle/>
                    <a:p>
                      <a:pPr indent="0" marL="0">
                        <a:buNone/>
                      </a:pPr>
                      <a:r>
                        <a:rPr lang="en-US" sz="1400" b="1" dirty="0">
                          <a:solidFill>
                            <a:srgbClr val="FFFFFF"/>
                          </a:solidFill>
                        </a:rPr>
                        <a:t>Stays with the institution</a:t>
                      </a:r>
                      <a:endParaRPr lang="en-US" sz="1400" dirty="0"/>
                    </a:p>
                  </a:txBody>
                  <a:tcPr marL="91440" marR="91440" marT="54864" marB="54864" anchor="ctr">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2B2566"/>
                    </a:solidFill>
                  </a:tcPr>
                </a:tc>
              </a:tr>
              <a:tr h="0">
                <a:tc>
                  <a:txBody>
                    <a:bodyPr/>
                    <a:lstStyle/>
                    <a:p>
                      <a:pPr indent="0" marL="0">
                        <a:buNone/>
                      </a:pPr>
                      <a:r>
                        <a:rPr lang="en-US" sz="1400" dirty="0">
                          <a:solidFill>
                            <a:srgbClr val="15122E"/>
                          </a:solidFill>
                        </a:rPr>
                        <a:t>S 11.13</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Incident response plan: preparedness, detection and analysis with evidence preserved, containment, recovery, post-incident review</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Register with six statuses; escalation clocks; evidence with SHA-256 chain of custody; Form C post-incident review with corrective actions</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The response plan, the response team and drills</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r>
              <a:tr h="0">
                <a:tc>
                  <a:txBody>
                    <a:bodyPr/>
                    <a:lstStyle/>
                    <a:p>
                      <a:pPr indent="0" marL="0">
                        <a:buNone/>
                      </a:pPr>
                      <a:r>
                        <a:rPr lang="en-US" sz="1400" dirty="0">
                          <a:solidFill>
                            <a:srgbClr val="15122E"/>
                          </a:solidFill>
                        </a:rPr>
                        <a:t>S 11.18</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Notify the Bank of cyber incidents under its other policy documents</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Forms A, B and D prepared from the record; a log of who was told, when and by what reference</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Submitting to BNM and others, and meeting the deadlines</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5122E"/>
                          </a:solidFill>
                        </a:rPr>
                        <a:t>S 12.9</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Extra measures when an incident involves potential fraud or customer data compromise</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Reports of data breach, account takeover and fraud types flagged for at least P2; customer and PDP Commissioner notifications logged</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c>
                  <a:txBody>
                    <a:bodyPr/>
                    <a:lstStyle/>
                    <a:p>
                      <a:pPr indent="0" marL="0">
                        <a:buNone/>
                      </a:pPr>
                      <a:r>
                        <a:rPr lang="en-US" sz="1400" dirty="0">
                          <a:solidFill>
                            <a:srgbClr val="15122E"/>
                          </a:solidFill>
                        </a:rPr>
                        <a:t>Heightened account monitoring; customer communication</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4F2FD"/>
                    </a:solidFill>
                  </a:tcPr>
                </a:tc>
              </a:tr>
              <a:tr h="0">
                <a:tc>
                  <a:txBody>
                    <a:bodyPr/>
                    <a:lstStyle/>
                    <a:p>
                      <a:pPr indent="0" marL="0">
                        <a:buNone/>
                      </a:pPr>
                      <a:r>
                        <a:rPr lang="en-US" sz="1400" dirty="0">
                          <a:solidFill>
                            <a:srgbClr val="15122E"/>
                          </a:solidFill>
                        </a:rPr>
                        <a:t>S 10.20</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Cryptography policy covering key lifecycle</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AES-256-GCM for stored secrets; versioned key ring; rotation with re-encryption and no reconnection</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c>
                  <a:txBody>
                    <a:bodyPr/>
                    <a:lstStyle/>
                    <a:p>
                      <a:pPr indent="0" marL="0">
                        <a:buNone/>
                      </a:pPr>
                      <a:r>
                        <a:rPr lang="en-US" sz="1400" dirty="0">
                          <a:solidFill>
                            <a:srgbClr val="15122E"/>
                          </a:solidFill>
                        </a:rPr>
                        <a:t>The institution’s cryptography policy and annual review</a:t>
                      </a:r>
                      <a:endParaRPr lang="en-US" sz="1400" dirty="0"/>
                    </a:p>
                  </a:txBody>
                  <a:tcPr marL="91440" marR="91440" marT="54864" marB="54864" anchor="t">
                    <a:lnL w="9525" cap="flat" cmpd="sng" algn="ctr">
                      <a:solidFill>
                        <a:srgbClr val="D9D4F2"/>
                      </a:solidFill>
                      <a:prstDash val="solid"/>
                      <a:round/>
                      <a:headEnd type="none" w="med" len="med"/>
                      <a:tailEnd type="none" w="med" len="med"/>
                    </a:lnL>
                    <a:lnR w="9525" cap="flat" cmpd="sng" algn="ctr">
                      <a:solidFill>
                        <a:srgbClr val="D9D4F2"/>
                      </a:solidFill>
                      <a:prstDash val="solid"/>
                      <a:round/>
                      <a:headEnd type="none" w="med" len="med"/>
                      <a:tailEnd type="none" w="med" len="med"/>
                    </a:lnR>
                    <a:lnT w="9525" cap="flat" cmpd="sng" algn="ctr">
                      <a:solidFill>
                        <a:srgbClr val="D9D4F2"/>
                      </a:solidFill>
                      <a:prstDash val="solid"/>
                      <a:round/>
                      <a:headEnd type="none" w="med" len="med"/>
                      <a:tailEnd type="none" w="med" len="med"/>
                    </a:lnT>
                    <a:lnB w="9525" cap="flat" cmpd="sng" algn="ctr">
                      <a:solidFill>
                        <a:srgbClr val="D9D4F2"/>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6126480"/>
            <a:ext cx="9144000" cy="274320"/>
          </a:xfrm>
          <a:prstGeom prst="rect">
            <a:avLst/>
          </a:prstGeom>
          <a:noFill/>
          <a:ln/>
        </p:spPr>
        <p:txBody>
          <a:bodyPr wrap="square" lIns="0" tIns="0" rIns="0" bIns="0" rtlCol="0" anchor="ctr"/>
          <a:lstStyle/>
          <a:p>
            <a:pPr indent="0" marL="0">
              <a:buNone/>
            </a:pPr>
            <a:r>
              <a:rPr lang="en-US" sz="1000" i="1" dirty="0">
                <a:solidFill>
                  <a:schemeClr val="accent6"/>
                </a:solidFill>
              </a:rPr>
              <a:t>Source: Bank Negara Malaysia, Risk Management in Technology (RMiT), issued 25 September 2026.</a:t>
            </a:r>
            <a:endParaRPr lang="en-US" sz="10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Beyond RMiT: other obligations Halo helps evidence</a:t>
            </a:r>
            <a:endParaRPr lang="en-US" sz="3200" dirty="0"/>
          </a:p>
        </p:txBody>
      </p:sp>
      <p:sp>
        <p:nvSpPr>
          <p:cNvPr id="4" name="Shape 1"/>
          <p:cNvSpPr/>
          <p:nvPr/>
        </p:nvSpPr>
        <p:spPr>
          <a:xfrm>
            <a:off x="548640" y="1508760"/>
            <a:ext cx="5440680" cy="2194560"/>
          </a:xfrm>
          <a:prstGeom prst="roundRect">
            <a:avLst>
              <a:gd name="adj" fmla="val 4167"/>
            </a:avLst>
          </a:prstGeom>
          <a:solidFill>
            <a:schemeClr val="bg1"/>
          </a:solidFill>
          <a:ln/>
          <a:effectLst>
            <a:outerShdw sx="100000" sy="100000" kx="0" ky="0" algn="bl" rotWithShape="0" blurRad="101600" dist="25400" dir="5400000">
              <a:srgbClr val="2B2566">
                <a:alpha val="14000"/>
              </a:srgbClr>
            </a:outerShdw>
          </a:effectLst>
        </p:spPr>
      </p:sp>
      <p:sp>
        <p:nvSpPr>
          <p:cNvPr id="5" name="Text 2"/>
          <p:cNvSpPr txBox="1"/>
          <p:nvPr/>
        </p:nvSpPr>
        <p:spPr>
          <a:xfrm>
            <a:off x="777240" y="1673352"/>
            <a:ext cx="4983480" cy="192024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Customer information</a:t>
            </a:r>
            <a:endParaRPr lang="en-US" sz="1800" dirty="0"/>
          </a:p>
          <a:p>
            <a:pPr indent="0" marL="0">
              <a:spcAft>
                <a:spcPts val="600"/>
              </a:spcAft>
              <a:buNone/>
            </a:pPr>
            <a:r>
              <a:rPr lang="en-US" sz="1200" i="1" dirty="0">
                <a:solidFill>
                  <a:schemeClr val="accent6"/>
                </a:solidFill>
              </a:rPr>
              <a:t>BNM policy on management of customer information and permitted disclosures</a:t>
            </a:r>
            <a:endParaRPr lang="en-US" sz="1800" dirty="0"/>
          </a:p>
          <a:p>
            <a:pPr indent="0" marL="0">
              <a:spcAft>
                <a:spcPts val="600"/>
              </a:spcAft>
              <a:buNone/>
            </a:pPr>
            <a:r>
              <a:rPr lang="en-US" sz="1600" dirty="0">
                <a:solidFill>
                  <a:schemeClr val="tx1"/>
                </a:solidFill>
              </a:rPr>
              <a:t>Masked data, logged reveals, audited support access, private file storage</a:t>
            </a:r>
            <a:endParaRPr lang="en-US" sz="1800" dirty="0"/>
          </a:p>
        </p:txBody>
      </p:sp>
      <p:sp>
        <p:nvSpPr>
          <p:cNvPr id="6" name="Shape 3"/>
          <p:cNvSpPr/>
          <p:nvPr/>
        </p:nvSpPr>
        <p:spPr>
          <a:xfrm>
            <a:off x="6126480" y="1508760"/>
            <a:ext cx="5440680" cy="2194560"/>
          </a:xfrm>
          <a:prstGeom prst="roundRect">
            <a:avLst>
              <a:gd name="adj" fmla="val 4167"/>
            </a:avLst>
          </a:prstGeom>
          <a:solidFill>
            <a:schemeClr val="bg1"/>
          </a:solidFill>
          <a:ln/>
          <a:effectLst>
            <a:outerShdw sx="100000" sy="100000" kx="0" ky="0" algn="bl" rotWithShape="0" blurRad="101600" dist="25400" dir="5400000">
              <a:srgbClr val="2B2566">
                <a:alpha val="14000"/>
              </a:srgbClr>
            </a:outerShdw>
          </a:effectLst>
        </p:spPr>
      </p:sp>
      <p:sp>
        <p:nvSpPr>
          <p:cNvPr id="7" name="Text 4"/>
          <p:cNvSpPr txBox="1"/>
          <p:nvPr/>
        </p:nvSpPr>
        <p:spPr>
          <a:xfrm>
            <a:off x="6355080" y="1673352"/>
            <a:ext cx="4983480" cy="192024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AML/CFT and eKYC</a:t>
            </a:r>
            <a:endParaRPr lang="en-US" sz="1800" dirty="0"/>
          </a:p>
          <a:p>
            <a:pPr indent="0" marL="0">
              <a:spcAft>
                <a:spcPts val="600"/>
              </a:spcAft>
              <a:buNone/>
            </a:pPr>
            <a:r>
              <a:rPr lang="en-US" sz="1200" i="1" dirty="0">
                <a:solidFill>
                  <a:schemeClr val="accent6"/>
                </a:solidFill>
              </a:rPr>
              <a:t>BNM AML/CFT/CPF/TFS and eKYC policy documents</a:t>
            </a:r>
            <a:endParaRPr lang="en-US" sz="1800" dirty="0"/>
          </a:p>
          <a:p>
            <a:pPr indent="0" marL="0">
              <a:spcAft>
                <a:spcPts val="600"/>
              </a:spcAft>
              <a:buNone/>
            </a:pPr>
            <a:r>
              <a:rPr lang="en-US" sz="1600" dirty="0">
                <a:solidFill>
                  <a:schemeClr val="tx1"/>
                </a:solidFill>
              </a:rPr>
              <a:t>eKYC review with a full access log; compliance cases with identity checks and sign-off. Filing suspicious transaction reports and screening are outside Halo</a:t>
            </a:r>
            <a:endParaRPr lang="en-US" sz="1800" dirty="0"/>
          </a:p>
        </p:txBody>
      </p:sp>
      <p:sp>
        <p:nvSpPr>
          <p:cNvPr id="8" name="Shape 5"/>
          <p:cNvSpPr/>
          <p:nvPr/>
        </p:nvSpPr>
        <p:spPr>
          <a:xfrm>
            <a:off x="548640" y="3840480"/>
            <a:ext cx="5440680" cy="2194560"/>
          </a:xfrm>
          <a:prstGeom prst="roundRect">
            <a:avLst>
              <a:gd name="adj" fmla="val 4167"/>
            </a:avLst>
          </a:prstGeom>
          <a:solidFill>
            <a:schemeClr val="bg1"/>
          </a:solidFill>
          <a:ln/>
          <a:effectLst>
            <a:outerShdw sx="100000" sy="100000" kx="0" ky="0" algn="bl" rotWithShape="0" blurRad="101600" dist="25400" dir="5400000">
              <a:srgbClr val="2B2566">
                <a:alpha val="14000"/>
              </a:srgbClr>
            </a:outerShdw>
          </a:effectLst>
        </p:spPr>
      </p:sp>
      <p:sp>
        <p:nvSpPr>
          <p:cNvPr id="9" name="Text 6"/>
          <p:cNvSpPr txBox="1"/>
          <p:nvPr/>
        </p:nvSpPr>
        <p:spPr>
          <a:xfrm>
            <a:off x="777240" y="4005072"/>
            <a:ext cx="4983480" cy="1920240"/>
          </a:xfrm>
          <a:prstGeom prst="rect">
            <a:avLst/>
          </a:prstGeom>
          <a:noFill/>
          <a:ln/>
        </p:spPr>
        <p:txBody>
          <a:bodyPr wrap="square" lIns="0" tIns="0" rIns="0" bIns="0" rtlCol="0" anchor="t"/>
          <a:lstStyle/>
          <a:p>
            <a:pPr indent="0" marL="0">
              <a:spcAft>
                <a:spcPts val="600"/>
              </a:spcAft>
              <a:buNone/>
            </a:pPr>
            <a:r>
              <a:rPr lang="en-US" sz="1800" b="1" dirty="0">
                <a:solidFill>
                  <a:schemeClr val="accent3"/>
                </a:solidFill>
              </a:rPr>
              <a:t>Personal data</a:t>
            </a:r>
            <a:endParaRPr lang="en-US" sz="1800" dirty="0"/>
          </a:p>
          <a:p>
            <a:pPr indent="0" marL="0">
              <a:spcAft>
                <a:spcPts val="600"/>
              </a:spcAft>
              <a:buNone/>
            </a:pPr>
            <a:r>
              <a:rPr lang="en-US" sz="1200" i="1" dirty="0">
                <a:solidFill>
                  <a:schemeClr val="accent6"/>
                </a:solidFill>
              </a:rPr>
              <a:t>Personal Data Protection Act</a:t>
            </a:r>
            <a:endParaRPr lang="en-US" sz="1800" dirty="0"/>
          </a:p>
          <a:p>
            <a:pPr indent="0" marL="0">
              <a:spcAft>
                <a:spcPts val="600"/>
              </a:spcAft>
              <a:buNone/>
            </a:pPr>
            <a:r>
              <a:rPr lang="en-US" sz="1600" dirty="0">
                <a:solidFill>
                  <a:schemeClr val="tx1"/>
                </a:solidFill>
              </a:rPr>
              <a:t>Workspace export for access requests, 30-day erasure, retention by design, PDP Commissioner notices tracked in incidents</a:t>
            </a:r>
            <a:endParaRPr lang="en-US" sz="1800" dirty="0"/>
          </a:p>
        </p:txBody>
      </p:sp>
      <p:sp>
        <p:nvSpPr>
          <p:cNvPr id="10" name="Shape 7"/>
          <p:cNvSpPr/>
          <p:nvPr/>
        </p:nvSpPr>
        <p:spPr>
          <a:xfrm>
            <a:off x="6126480" y="3840480"/>
            <a:ext cx="5440680" cy="2194560"/>
          </a:xfrm>
          <a:prstGeom prst="roundRect">
            <a:avLst>
              <a:gd name="adj" fmla="val 4167"/>
            </a:avLst>
          </a:prstGeom>
          <a:solidFill>
            <a:schemeClr val="bg1"/>
          </a:solidFill>
          <a:ln/>
          <a:effectLst>
            <a:outerShdw sx="100000" sy="100000" kx="0" ky="0" algn="bl" rotWithShape="0" blurRad="101600" dist="25400" dir="5400000">
              <a:srgbClr val="2B2566">
                <a:alpha val="14000"/>
              </a:srgbClr>
            </a:outerShdw>
          </a:effectLst>
        </p:spPr>
      </p:sp>
      <p:sp>
        <p:nvSpPr>
          <p:cNvPr id="11" name="Text 8"/>
          <p:cNvSpPr txBox="1"/>
          <p:nvPr/>
        </p:nvSpPr>
        <p:spPr>
          <a:xfrm>
            <a:off x="6355080" y="4005072"/>
            <a:ext cx="4983480" cy="1920240"/>
          </a:xfrm>
          <a:prstGeom prst="rect">
            <a:avLst/>
          </a:prstGeom>
          <a:noFill/>
          <a:ln/>
        </p:spPr>
        <p:txBody>
          <a:bodyPr wrap="square" lIns="0" tIns="0" rIns="0" bIns="0" rtlCol="0" anchor="t"/>
          <a:lstStyle/>
          <a:p>
            <a:pPr indent="0" marL="0">
              <a:spcAft>
                <a:spcPts val="600"/>
              </a:spcAft>
              <a:buNone/>
            </a:pPr>
            <a:r>
              <a:rPr lang="en-US" sz="1800" b="1" dirty="0">
                <a:solidFill>
                  <a:schemeClr val="accent5"/>
                </a:solidFill>
              </a:rPr>
              <a:t>Operational resilience</a:t>
            </a:r>
            <a:endParaRPr lang="en-US" sz="1800" dirty="0"/>
          </a:p>
          <a:p>
            <a:pPr indent="0" marL="0">
              <a:spcAft>
                <a:spcPts val="600"/>
              </a:spcAft>
              <a:buNone/>
            </a:pPr>
            <a:r>
              <a:rPr lang="en-US" sz="1200" i="1" dirty="0">
                <a:solidFill>
                  <a:schemeClr val="accent6"/>
                </a:solidFill>
              </a:rPr>
              <a:t>BNM business continuity and operational risk reporting</a:t>
            </a:r>
            <a:endParaRPr lang="en-US" sz="1800" dirty="0"/>
          </a:p>
          <a:p>
            <a:pPr indent="0" marL="0">
              <a:spcAft>
                <a:spcPts val="600"/>
              </a:spcAft>
              <a:buNone/>
            </a:pPr>
            <a:r>
              <a:rPr lang="en-US" sz="1600" dirty="0">
                <a:solidFill>
                  <a:schemeClr val="tx1"/>
                </a:solidFill>
              </a:rPr>
              <a:t>Incident clocks and post-incident review support reporting. Hosting, backup and recovery are deployment choices of the institution</a:t>
            </a:r>
            <a:endParaRPr lang="en-US" sz="18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What Halo does, and what it does not</a:t>
            </a:r>
            <a:endParaRPr lang="en-US" sz="3200" dirty="0"/>
          </a:p>
        </p:txBody>
      </p:sp>
      <p:sp>
        <p:nvSpPr>
          <p:cNvPr id="4" name="Shape 1"/>
          <p:cNvSpPr/>
          <p:nvPr/>
        </p:nvSpPr>
        <p:spPr>
          <a:xfrm>
            <a:off x="548640" y="1508760"/>
            <a:ext cx="5440680" cy="4480560"/>
          </a:xfrm>
          <a:prstGeom prst="roundRect">
            <a:avLst>
              <a:gd name="adj" fmla="val 2041"/>
            </a:avLst>
          </a:prstGeom>
          <a:solidFill>
            <a:schemeClr val="bg2"/>
          </a:solidFill>
          <a:ln/>
          <a:effectLst>
            <a:outerShdw sx="100000" sy="100000" kx="0" ky="0" algn="bl" rotWithShape="0" blurRad="101600" dist="25400" dir="5400000">
              <a:srgbClr val="2B2566">
                <a:alpha val="14000"/>
              </a:srgbClr>
            </a:outerShdw>
          </a:effectLst>
        </p:spPr>
      </p:sp>
      <p:sp>
        <p:nvSpPr>
          <p:cNvPr id="5" name="Text 2"/>
          <p:cNvSpPr txBox="1"/>
          <p:nvPr/>
        </p:nvSpPr>
        <p:spPr>
          <a:xfrm>
            <a:off x="822960" y="1691640"/>
            <a:ext cx="4937760" cy="457200"/>
          </a:xfrm>
          <a:prstGeom prst="rect">
            <a:avLst/>
          </a:prstGeom>
          <a:noFill/>
          <a:ln/>
        </p:spPr>
        <p:txBody>
          <a:bodyPr wrap="square" lIns="0" tIns="0" rIns="0" bIns="0" rtlCol="0" anchor="ctr"/>
          <a:lstStyle/>
          <a:p>
            <a:pPr indent="0" marL="0">
              <a:buNone/>
            </a:pPr>
            <a:r>
              <a:rPr lang="en-US" sz="2200" b="1" dirty="0">
                <a:solidFill>
                  <a:schemeClr val="accent3"/>
                </a:solidFill>
              </a:rPr>
              <a:t>Halo provides</a:t>
            </a:r>
            <a:endParaRPr lang="en-US" sz="2200" dirty="0"/>
          </a:p>
        </p:txBody>
      </p:sp>
      <p:sp>
        <p:nvSpPr>
          <p:cNvPr id="6" name="Text 3"/>
          <p:cNvSpPr txBox="1"/>
          <p:nvPr/>
        </p:nvSpPr>
        <p:spPr>
          <a:xfrm>
            <a:off x="822960" y="2286000"/>
            <a:ext cx="4937760" cy="3566160"/>
          </a:xfrm>
          <a:prstGeom prst="rect">
            <a:avLst/>
          </a:prstGeom>
          <a:noFill/>
          <a:ln/>
        </p:spPr>
        <p:txBody>
          <a:bodyPr wrap="square" lIns="0" tIns="0" rIns="0" bIns="0" rtlCol="0" anchor="t"/>
          <a:lstStyle/>
          <a:p>
            <a:pPr marL="228600" indent="-228600">
              <a:spcAft>
                <a:spcPts val="900"/>
              </a:spcAft>
              <a:buSzPct val="100000"/>
              <a:buChar char="•"/>
            </a:pPr>
            <a:r>
              <a:rPr lang="en-US" sz="1700" dirty="0">
                <a:solidFill>
                  <a:schemeClr val="tx1"/>
                </a:solidFill>
              </a:rPr>
              <a:t>The register, cases, clocks and workflows</a:t>
            </a:r>
            <a:endParaRPr lang="en-US" sz="1700" dirty="0"/>
          </a:p>
          <a:p>
            <a:pPr marL="228600" indent="-228600">
              <a:spcAft>
                <a:spcPts val="900"/>
              </a:spcAft>
              <a:buSzPct val="100000"/>
              <a:buChar char="•"/>
            </a:pPr>
            <a:r>
              <a:rPr lang="en-US" sz="1700" dirty="0">
                <a:solidFill>
                  <a:schemeClr val="tx1"/>
                </a:solidFill>
              </a:rPr>
              <a:t>Evidence, access and audit records that cannot be rewritten</a:t>
            </a:r>
            <a:endParaRPr lang="en-US" sz="1700" dirty="0"/>
          </a:p>
          <a:p>
            <a:pPr marL="228600" indent="-228600">
              <a:spcAft>
                <a:spcPts val="900"/>
              </a:spcAft>
              <a:buSzPct val="100000"/>
              <a:buChar char="•"/>
            </a:pPr>
            <a:r>
              <a:rPr lang="en-US" sz="1700" dirty="0">
                <a:solidFill>
                  <a:schemeClr val="tx1"/>
                </a:solidFill>
              </a:rPr>
              <a:t>Document drafts for regulator notices</a:t>
            </a:r>
            <a:endParaRPr lang="en-US" sz="1700" dirty="0"/>
          </a:p>
          <a:p>
            <a:pPr marL="228600" indent="-228600">
              <a:spcAft>
                <a:spcPts val="900"/>
              </a:spcAft>
              <a:buSzPct val="100000"/>
              <a:buChar char="•"/>
            </a:pPr>
            <a:r>
              <a:rPr lang="en-US" sz="1700" dirty="0">
                <a:solidFill>
                  <a:schemeClr val="tx1"/>
                </a:solidFill>
              </a:rPr>
              <a:t>Controls on who sees and changes what</a:t>
            </a:r>
            <a:endParaRPr lang="en-US" sz="1700" dirty="0"/>
          </a:p>
          <a:p>
            <a:pPr marL="228600" indent="-228600">
              <a:spcAft>
                <a:spcPts val="900"/>
              </a:spcAft>
              <a:buSzPct val="100000"/>
              <a:buChar char="•"/>
            </a:pPr>
            <a:r>
              <a:rPr lang="en-US" sz="1700" dirty="0">
                <a:solidFill>
                  <a:schemeClr val="tx1"/>
                </a:solidFill>
              </a:rPr>
              <a:t>Export and erasure of a workspace</a:t>
            </a:r>
            <a:endParaRPr lang="en-US" sz="1700" dirty="0"/>
          </a:p>
        </p:txBody>
      </p:sp>
      <p:sp>
        <p:nvSpPr>
          <p:cNvPr id="7" name="Shape 4"/>
          <p:cNvSpPr/>
          <p:nvPr/>
        </p:nvSpPr>
        <p:spPr>
          <a:xfrm>
            <a:off x="6172200" y="1508760"/>
            <a:ext cx="5440680" cy="4480560"/>
          </a:xfrm>
          <a:prstGeom prst="roundRect">
            <a:avLst>
              <a:gd name="adj" fmla="val 2041"/>
            </a:avLst>
          </a:prstGeom>
          <a:solidFill>
            <a:schemeClr val="bg2"/>
          </a:solidFill>
          <a:ln/>
          <a:effectLst>
            <a:outerShdw sx="100000" sy="100000" kx="0" ky="0" algn="bl" rotWithShape="0" blurRad="101600" dist="25400" dir="5400000">
              <a:srgbClr val="2B2566">
                <a:alpha val="14000"/>
              </a:srgbClr>
            </a:outerShdw>
          </a:effectLst>
        </p:spPr>
      </p:sp>
      <p:sp>
        <p:nvSpPr>
          <p:cNvPr id="8" name="Text 5"/>
          <p:cNvSpPr txBox="1"/>
          <p:nvPr/>
        </p:nvSpPr>
        <p:spPr>
          <a:xfrm>
            <a:off x="6446520" y="1691640"/>
            <a:ext cx="4937760" cy="457200"/>
          </a:xfrm>
          <a:prstGeom prst="rect">
            <a:avLst/>
          </a:prstGeom>
          <a:noFill/>
          <a:ln/>
        </p:spPr>
        <p:txBody>
          <a:bodyPr wrap="square" lIns="0" tIns="0" rIns="0" bIns="0" rtlCol="0" anchor="ctr"/>
          <a:lstStyle/>
          <a:p>
            <a:pPr indent="0" marL="0">
              <a:buNone/>
            </a:pPr>
            <a:r>
              <a:rPr lang="en-US" sz="2200" b="1" dirty="0">
                <a:solidFill>
                  <a:schemeClr val="accent2"/>
                </a:solidFill>
              </a:rPr>
              <a:t>The institution keeps</a:t>
            </a:r>
            <a:endParaRPr lang="en-US" sz="2200" dirty="0"/>
          </a:p>
        </p:txBody>
      </p:sp>
      <p:sp>
        <p:nvSpPr>
          <p:cNvPr id="9" name="Text 6"/>
          <p:cNvSpPr txBox="1"/>
          <p:nvPr/>
        </p:nvSpPr>
        <p:spPr>
          <a:xfrm>
            <a:off x="6446520" y="2286000"/>
            <a:ext cx="4937760" cy="3566160"/>
          </a:xfrm>
          <a:prstGeom prst="rect">
            <a:avLst/>
          </a:prstGeom>
          <a:noFill/>
          <a:ln/>
        </p:spPr>
        <p:txBody>
          <a:bodyPr wrap="square" lIns="0" tIns="0" rIns="0" bIns="0" rtlCol="0" anchor="t"/>
          <a:lstStyle/>
          <a:p>
            <a:pPr marL="228600" indent="-228600">
              <a:spcAft>
                <a:spcPts val="900"/>
              </a:spcAft>
              <a:buSzPct val="100000"/>
              <a:buChar char="•"/>
            </a:pPr>
            <a:r>
              <a:rPr lang="en-US" sz="1700" dirty="0">
                <a:solidFill>
                  <a:schemeClr val="tx1"/>
                </a:solidFill>
              </a:rPr>
              <a:t>Policies, response plans, drills and training</a:t>
            </a:r>
            <a:endParaRPr lang="en-US" sz="1700" dirty="0"/>
          </a:p>
          <a:p>
            <a:pPr marL="228600" indent="-228600">
              <a:spcAft>
                <a:spcPts val="900"/>
              </a:spcAft>
              <a:buSzPct val="100000"/>
              <a:buChar char="•"/>
            </a:pPr>
            <a:r>
              <a:rPr lang="en-US" sz="1700" dirty="0">
                <a:solidFill>
                  <a:schemeClr val="tx1"/>
                </a:solidFill>
              </a:rPr>
              <a:t>Submitting notices to BNM, PDP Commissioner, MyCERT and others</a:t>
            </a:r>
            <a:endParaRPr lang="en-US" sz="1700" dirty="0"/>
          </a:p>
          <a:p>
            <a:pPr marL="228600" indent="-228600">
              <a:spcAft>
                <a:spcPts val="900"/>
              </a:spcAft>
              <a:buSzPct val="100000"/>
              <a:buChar char="•"/>
            </a:pPr>
            <a:r>
              <a:rPr lang="en-US" sz="1700" dirty="0">
                <a:solidFill>
                  <a:schemeClr val="tx1"/>
                </a:solidFill>
              </a:rPr>
              <a:t>Enforcing MFA and single sign-on at the identity provider</a:t>
            </a:r>
            <a:endParaRPr lang="en-US" sz="1700" dirty="0"/>
          </a:p>
          <a:p>
            <a:pPr marL="228600" indent="-228600">
              <a:spcAft>
                <a:spcPts val="900"/>
              </a:spcAft>
              <a:buSzPct val="100000"/>
              <a:buChar char="•"/>
            </a:pPr>
            <a:r>
              <a:rPr lang="en-US" sz="1700" dirty="0">
                <a:solidFill>
                  <a:schemeClr val="tx1"/>
                </a:solidFill>
              </a:rPr>
              <a:t>Transaction monitoring, sanctions screening, STR filing</a:t>
            </a:r>
            <a:endParaRPr lang="en-US" sz="1700" dirty="0"/>
          </a:p>
          <a:p>
            <a:pPr marL="228600" indent="-228600">
              <a:spcAft>
                <a:spcPts val="900"/>
              </a:spcAft>
              <a:buSzPct val="100000"/>
              <a:buChar char="•"/>
            </a:pPr>
            <a:r>
              <a:rPr lang="en-US" sz="1700" dirty="0">
                <a:solidFill>
                  <a:schemeClr val="tx1"/>
                </a:solidFill>
              </a:rPr>
              <a:t>Hosting, backup and recovery arrangements, log review and retention policy</a:t>
            </a:r>
            <a:endParaRPr lang="en-US" sz="1700" dirty="0"/>
          </a:p>
        </p:txBody>
      </p:sp>
      <p:sp>
        <p:nvSpPr>
          <p:cNvPr id="25" name="Slide Number Placeholder 0"/>
          <p:cNvSpPr>
            <a:spLocks noGrp="1"/>
          </p:cNvSpPr>
          <p:nvPr>
            <p:ph type="sldNum" sz="quarter" idx="4294967295"/>
          </p:nvPr>
        </p:nvSpPr>
        <p:spPr>
          <a:xfrm>
            <a:off x="11064240" y="6437376"/>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822960" y="2377440"/>
            <a:ext cx="9601200" cy="1097280"/>
          </a:xfrm>
          <a:prstGeom prst="rect">
            <a:avLst/>
          </a:prstGeom>
          <a:noFill/>
          <a:ln/>
        </p:spPr>
        <p:txBody>
          <a:bodyPr wrap="square" lIns="0" tIns="0" rIns="0" bIns="0" rtlCol="0" anchor="t"/>
          <a:lstStyle/>
          <a:p>
            <a:pPr algn="l" indent="0" marL="0">
              <a:buNone/>
            </a:pPr>
            <a:r>
              <a:rPr lang="en-US" sz="4800" b="1" dirty="0">
                <a:solidFill>
                  <a:schemeClr val="bg1"/>
                </a:solidFill>
                <a:latin typeface="+mj-lt" pitchFamily="34" charset="0"/>
                <a:ea typeface="+mj-lt" pitchFamily="34" charset="-122"/>
                <a:cs typeface="+mj-lt" pitchFamily="34" charset="-120"/>
              </a:rPr>
              <a:t>Getting started</a:t>
            </a:r>
            <a:endParaRPr lang="en-US" sz="4800" dirty="0"/>
          </a:p>
        </p:txBody>
      </p:sp>
      <p:sp>
        <p:nvSpPr>
          <p:cNvPr id="3" name="Text 1"/>
          <p:cNvSpPr/>
          <p:nvPr/>
        </p:nvSpPr>
        <p:spPr>
          <a:xfrm>
            <a:off x="822960" y="3611880"/>
            <a:ext cx="8778240" cy="1280160"/>
          </a:xfrm>
          <a:prstGeom prst="rect">
            <a:avLst/>
          </a:prstGeom>
          <a:noFill/>
          <a:ln/>
        </p:spPr>
        <p:txBody>
          <a:bodyPr wrap="square" lIns="0" tIns="0" rIns="0" bIns="0" rtlCol="0" anchor="t"/>
          <a:lstStyle/>
          <a:p>
            <a:pPr algn="l" indent="0" marL="0">
              <a:buNone/>
            </a:pPr>
            <a:r>
              <a:rPr lang="en-US" sz="2200" dirty="0">
                <a:solidFill>
                  <a:schemeClr val="bg2"/>
                </a:solidFill>
              </a:rPr>
              <a:t>A pilot on one workspace, from set-up to a rehearsed incident</a:t>
            </a:r>
            <a:endParaRPr lang="en-US" sz="2200" dirty="0"/>
          </a:p>
        </p:txBody>
      </p:sp>
      <p:sp>
        <p:nvSpPr>
          <p:cNvPr id="4" name="Shape 2"/>
          <p:cNvSpPr/>
          <p:nvPr/>
        </p:nvSpPr>
        <p:spPr>
          <a:xfrm>
            <a:off x="822960" y="4983480"/>
            <a:ext cx="640080" cy="640080"/>
          </a:xfrm>
          <a:prstGeom prst="ellipse">
            <a:avLst/>
          </a:prstGeom>
          <a:solidFill>
            <a:schemeClr val="accent1"/>
          </a:solidFill>
          <a:ln/>
        </p:spPr>
      </p:sp>
      <p:sp>
        <p:nvSpPr>
          <p:cNvPr id="5" name="Text 3"/>
          <p:cNvSpPr txBox="1"/>
          <p:nvPr/>
        </p:nvSpPr>
        <p:spPr>
          <a:xfrm>
            <a:off x="822960" y="49834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 4"/>
          <p:cNvSpPr txBox="1"/>
          <p:nvPr/>
        </p:nvSpPr>
        <p:spPr>
          <a:xfrm>
            <a:off x="1645920" y="4937760"/>
            <a:ext cx="2651760" cy="914400"/>
          </a:xfrm>
          <a:prstGeom prst="rect">
            <a:avLst/>
          </a:prstGeom>
          <a:noFill/>
          <a:ln/>
        </p:spPr>
        <p:txBody>
          <a:bodyPr wrap="square" lIns="0" tIns="0" rIns="0" bIns="0" rtlCol="0" anchor="t"/>
          <a:lstStyle/>
          <a:p>
            <a:pPr indent="0" marL="0">
              <a:buNone/>
            </a:pPr>
            <a:r>
              <a:rPr lang="en-US" sz="2000" b="1" dirty="0">
                <a:solidFill>
                  <a:schemeClr val="bg1"/>
                </a:solidFill>
              </a:rPr>
              <a:t>Configure</a:t>
            </a:r>
            <a:endParaRPr lang="en-US" sz="2000" dirty="0"/>
          </a:p>
          <a:p>
            <a:pPr indent="0" marL="0">
              <a:buNone/>
            </a:pPr>
            <a:r>
              <a:rPr lang="en-US" sz="1400" dirty="0">
                <a:solidFill>
                  <a:schemeClr val="bg2"/>
                </a:solidFill>
              </a:rPr>
              <a:t>Roles, request types, escalation timers</a:t>
            </a:r>
            <a:endParaRPr lang="en-US" sz="2000" dirty="0"/>
          </a:p>
        </p:txBody>
      </p:sp>
      <p:sp>
        <p:nvSpPr>
          <p:cNvPr id="7" name="Shape 5"/>
          <p:cNvSpPr/>
          <p:nvPr/>
        </p:nvSpPr>
        <p:spPr>
          <a:xfrm>
            <a:off x="4480560" y="4983480"/>
            <a:ext cx="640080" cy="640080"/>
          </a:xfrm>
          <a:prstGeom prst="ellipse">
            <a:avLst/>
          </a:prstGeom>
          <a:solidFill>
            <a:schemeClr val="accent1"/>
          </a:solidFill>
          <a:ln/>
        </p:spPr>
      </p:sp>
      <p:sp>
        <p:nvSpPr>
          <p:cNvPr id="8" name="Text 6"/>
          <p:cNvSpPr txBox="1"/>
          <p:nvPr/>
        </p:nvSpPr>
        <p:spPr>
          <a:xfrm>
            <a:off x="4480560" y="49834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9" name="Text 7"/>
          <p:cNvSpPr txBox="1"/>
          <p:nvPr/>
        </p:nvSpPr>
        <p:spPr>
          <a:xfrm>
            <a:off x="5303520" y="4937760"/>
            <a:ext cx="2651760" cy="914400"/>
          </a:xfrm>
          <a:prstGeom prst="rect">
            <a:avLst/>
          </a:prstGeom>
          <a:noFill/>
          <a:ln/>
        </p:spPr>
        <p:txBody>
          <a:bodyPr wrap="square" lIns="0" tIns="0" rIns="0" bIns="0" rtlCol="0" anchor="t"/>
          <a:lstStyle/>
          <a:p>
            <a:pPr indent="0" marL="0">
              <a:buNone/>
            </a:pPr>
            <a:r>
              <a:rPr lang="en-US" sz="2000" b="1" dirty="0">
                <a:solidFill>
                  <a:schemeClr val="bg1"/>
                </a:solidFill>
              </a:rPr>
              <a:t>Rehearse</a:t>
            </a:r>
            <a:endParaRPr lang="en-US" sz="2000" dirty="0"/>
          </a:p>
          <a:p>
            <a:pPr indent="0" marL="0">
              <a:buNone/>
            </a:pPr>
            <a:r>
              <a:rPr lang="en-US" sz="1400" dirty="0">
                <a:solidFill>
                  <a:schemeClr val="bg2"/>
                </a:solidFill>
              </a:rPr>
              <a:t>A tabletop exercise on a scenario incident</a:t>
            </a:r>
            <a:endParaRPr lang="en-US" sz="2000" dirty="0"/>
          </a:p>
        </p:txBody>
      </p:sp>
      <p:sp>
        <p:nvSpPr>
          <p:cNvPr id="10" name="Shape 8"/>
          <p:cNvSpPr/>
          <p:nvPr/>
        </p:nvSpPr>
        <p:spPr>
          <a:xfrm>
            <a:off x="8138160" y="4983480"/>
            <a:ext cx="640080" cy="640080"/>
          </a:xfrm>
          <a:prstGeom prst="ellipse">
            <a:avLst/>
          </a:prstGeom>
          <a:solidFill>
            <a:schemeClr val="accent1"/>
          </a:solidFill>
          <a:ln/>
        </p:spPr>
      </p:sp>
      <p:sp>
        <p:nvSpPr>
          <p:cNvPr id="11" name="Text 9"/>
          <p:cNvSpPr txBox="1"/>
          <p:nvPr/>
        </p:nvSpPr>
        <p:spPr>
          <a:xfrm>
            <a:off x="8138160" y="49834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2" name="Text 10"/>
          <p:cNvSpPr txBox="1"/>
          <p:nvPr/>
        </p:nvSpPr>
        <p:spPr>
          <a:xfrm>
            <a:off x="8961120" y="4937760"/>
            <a:ext cx="2651760" cy="914400"/>
          </a:xfrm>
          <a:prstGeom prst="rect">
            <a:avLst/>
          </a:prstGeom>
          <a:noFill/>
          <a:ln/>
        </p:spPr>
        <p:txBody>
          <a:bodyPr wrap="square" lIns="0" tIns="0" rIns="0" bIns="0" rtlCol="0" anchor="t"/>
          <a:lstStyle/>
          <a:p>
            <a:pPr indent="0" marL="0">
              <a:buNone/>
            </a:pPr>
            <a:r>
              <a:rPr lang="en-US" sz="2000" b="1" dirty="0">
                <a:solidFill>
                  <a:schemeClr val="bg1"/>
                </a:solidFill>
              </a:rPr>
              <a:t>Go live</a:t>
            </a:r>
            <a:endParaRPr lang="en-US" sz="2000" dirty="0"/>
          </a:p>
          <a:p>
            <a:pPr indent="0" marL="0">
              <a:buNone/>
            </a:pPr>
            <a:r>
              <a:rPr lang="en-US" sz="1400" dirty="0">
                <a:solidFill>
                  <a:schemeClr val="bg2"/>
                </a:solidFill>
              </a:rPr>
              <a:t>One workspace first, then scale</a:t>
            </a:r>
            <a:endParaRPr lang="en-US" sz="2000" dirty="0"/>
          </a:p>
        </p:txBody>
      </p:sp>
    </p:spTree>
  </p:cSld>
  <p:clrMapOvr>
    <a:masterClrMapping/>
  </p:clrMapOvr>
</p:sld>
</file>

<file path=ppt/theme/theme1.xml><?xml version="1.0" encoding="utf-8"?>
<a:theme xmlns:a="http://schemas.openxmlformats.org/drawingml/2006/main" name="Halo">
  <a:themeElements>
    <a:clrScheme name="Halo">
      <a:dk1>
        <a:srgbClr val="15122E"/>
      </a:dk1>
      <a:lt1>
        <a:srgbClr val="FFFFFF"/>
      </a:lt1>
      <a:dk2>
        <a:srgbClr val="2B2566"/>
      </a:dk2>
      <a:lt2>
        <a:srgbClr val="F4F2FD"/>
      </a:lt2>
      <a:accent1>
        <a:srgbClr val="6D3FF0"/>
      </a:accent1>
      <a:accent2>
        <a:srgbClr val="D6293E"/>
      </a:accent2>
      <a:accent3>
        <a:srgbClr val="0F9D8A"/>
      </a:accent3>
      <a:accent4>
        <a:srgbClr val="E9A23B"/>
      </a:accent4>
      <a:accent5>
        <a:srgbClr val="3B6FE0"/>
      </a:accent5>
      <a:accent6>
        <a:srgbClr val="6B7280"/>
      </a:accent6>
      <a:hlink>
        <a:srgbClr val="6D3FF0"/>
      </a:hlink>
      <a:folHlink>
        <a:srgbClr val="6B7280"/>
      </a:folHlink>
    </a:clrScheme>
    <a:fontScheme name="Hal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Vircle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Vircle Halo: incident management and compliance</dc:title>
  <dc:subject>PptxGenJS Presentation</dc:subject>
  <dc:creator>Vircle Halo team</dc:creator>
  <cp:lastModifiedBy>Vircle Halo team</cp:lastModifiedBy>
  <cp:revision>1</cp:revision>
  <dcterms:created xsi:type="dcterms:W3CDTF">2026-10-22T11:07:31Z</dcterms:created>
  <dcterms:modified xsi:type="dcterms:W3CDTF">2026-10-22T11:07:31Z</dcterms:modified>
</cp:coreProperties>
</file>